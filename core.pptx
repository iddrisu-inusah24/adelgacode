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98" r:id="rId15"/>
    <p:sldId id="299" r:id="rId16"/>
    <p:sldId id="297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4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271A48-F18A-45B3-BC05-1E27DA3F88AF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700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DC5B261-8843-42D1-AAFC-05E20E2D9B97}" type="datetimeFigureOut">
              <a:rPr lang="en-US" dirty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" TargetMode="External"/><Relationship Id="rId2" Type="http://schemas.openxmlformats.org/officeDocument/2006/relationships/hyperlink" Target="https://www.python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atplotlib.org/" TargetMode="External"/><Relationship Id="rId4" Type="http://schemas.openxmlformats.org/officeDocument/2006/relationships/hyperlink" Target="https://pandas.pydata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0051" y="454152"/>
            <a:ext cx="10058400" cy="3566160"/>
          </a:xfrm>
        </p:spPr>
        <p:txBody>
          <a:bodyPr>
            <a:normAutofit/>
          </a:bodyPr>
          <a:lstStyle/>
          <a:p>
            <a:r>
              <a:rPr lang="en-US" sz="6600" b="1" dirty="0"/>
              <a:t>C</a:t>
            </a:r>
            <a:r>
              <a:rPr lang="en-US" sz="6600" b="1" dirty="0" smtClean="0"/>
              <a:t>ore Data Analysis Libraries</a:t>
            </a:r>
            <a:r>
              <a:rPr lang="en-US" sz="6600" dirty="0" smtClean="0"/>
              <a:t> </a:t>
            </a:r>
            <a:r>
              <a:rPr lang="en-US" sz="6600" dirty="0"/>
              <a:t>— </a:t>
            </a:r>
            <a:r>
              <a:rPr lang="en-US" sz="6000" b="1" dirty="0">
                <a:solidFill>
                  <a:srgbClr val="00B050"/>
                </a:solidFill>
              </a:rPr>
              <a:t>NumPy</a:t>
            </a:r>
            <a:r>
              <a:rPr lang="en-US" sz="6000" dirty="0"/>
              <a:t>, </a:t>
            </a:r>
            <a:r>
              <a:rPr lang="en-US" sz="6000" b="1" dirty="0">
                <a:solidFill>
                  <a:srgbClr val="FF0000"/>
                </a:solidFill>
              </a:rPr>
              <a:t>Pandas</a:t>
            </a:r>
            <a:r>
              <a:rPr lang="en-US" sz="6000" dirty="0"/>
              <a:t>, and </a:t>
            </a:r>
            <a:r>
              <a:rPr lang="en-US" sz="6000" b="1" dirty="0">
                <a:solidFill>
                  <a:srgbClr val="002060"/>
                </a:solidFill>
              </a:rPr>
              <a:t>Matplotlib</a:t>
            </a:r>
            <a:r>
              <a:rPr lang="en-US" sz="6000" dirty="0"/>
              <a:t>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b="1" i="1" dirty="0" err="1" smtClean="0"/>
              <a:t>adelgacode</a:t>
            </a:r>
            <a:endParaRPr lang="en-US" sz="2800" b="1" i="1" dirty="0"/>
          </a:p>
          <a:p>
            <a:r>
              <a:rPr lang="en-US" sz="2800" b="1" cap="none" dirty="0">
                <a:solidFill>
                  <a:srgbClr val="002060"/>
                </a:solidFill>
              </a:rPr>
              <a:t>Every Big Data Story Begins With Simple Lines Of Python.</a:t>
            </a:r>
          </a:p>
          <a:p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9982200" y="195350"/>
            <a:ext cx="1587500" cy="1092200"/>
          </a:xfrm>
          <a:prstGeom prst="ellipse">
            <a:avLst/>
          </a:prstGeom>
          <a:gradFill flip="none" rotWithShape="1">
            <a:gsLst>
              <a:gs pos="5700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04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 b="1" dirty="0"/>
              <a:t>Numerical Computing with </a:t>
            </a:r>
            <a:r>
              <a:rPr lang="en-US" sz="5400" b="1" dirty="0">
                <a:solidFill>
                  <a:srgbClr val="FF0000"/>
                </a:solidFill>
              </a:rPr>
              <a:t>NumPy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3600" dirty="0"/>
              <a:t>The foundation of data </a:t>
            </a:r>
            <a:r>
              <a:rPr lang="en-US" sz="3600" dirty="0" smtClean="0"/>
              <a:t>analysis </a:t>
            </a:r>
            <a:r>
              <a:rPr lang="en-US" sz="3600" dirty="0"/>
              <a:t>and machine </a:t>
            </a:r>
            <a:r>
              <a:rPr lang="en-US" sz="3600" dirty="0" smtClean="0"/>
              <a:t>learning.</a:t>
            </a:r>
            <a:endParaRPr lang="en-US" sz="3600" dirty="0"/>
          </a:p>
          <a:p>
            <a:pPr>
              <a:lnSpc>
                <a:spcPct val="150000"/>
              </a:lnSpc>
            </a:pPr>
            <a:r>
              <a:rPr lang="en-US" sz="3600" dirty="0"/>
              <a:t>“If data is the fuel, NumPy is the engine that drives computation</a:t>
            </a:r>
            <a:r>
              <a:rPr lang="en-US" sz="3600" dirty="0" smtClean="0"/>
              <a:t>.”</a:t>
            </a:r>
            <a:endParaRPr lang="en-US" sz="3600" dirty="0"/>
          </a:p>
          <a:p>
            <a:pPr>
              <a:lnSpc>
                <a:spcPct val="150000"/>
              </a:lnSpc>
            </a:pPr>
            <a:r>
              <a:rPr lang="en-US" sz="3600" dirty="0" smtClean="0">
                <a:solidFill>
                  <a:srgbClr val="7030A0"/>
                </a:solidFill>
              </a:rPr>
              <a:t>###</a:t>
            </a:r>
            <a:r>
              <a:rPr lang="en-US" sz="3600" dirty="0" smtClean="0"/>
              <a:t> pip </a:t>
            </a:r>
            <a:r>
              <a:rPr lang="en-US" sz="3600" dirty="0"/>
              <a:t>install </a:t>
            </a:r>
            <a:r>
              <a:rPr lang="en-US" sz="3600" dirty="0" smtClean="0"/>
              <a:t>numpy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11374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Learn </a:t>
            </a:r>
            <a:r>
              <a:rPr lang="en-US" b="1" dirty="0">
                <a:solidFill>
                  <a:srgbClr val="FF0000"/>
                </a:solidFill>
              </a:rPr>
              <a:t>NumPy</a:t>
            </a:r>
            <a:r>
              <a:rPr lang="en-US" b="1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 smtClean="0"/>
              <a:t> NumPy = </a:t>
            </a:r>
            <a:r>
              <a:rPr lang="en-US" sz="2800" i="1" dirty="0" smtClean="0"/>
              <a:t>Numerical Python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 smtClean="0"/>
              <a:t> Speeds </a:t>
            </a:r>
            <a:r>
              <a:rPr lang="en-US" sz="2800" dirty="0"/>
              <a:t>up mathematical </a:t>
            </a:r>
            <a:r>
              <a:rPr lang="en-US" sz="2800" dirty="0" smtClean="0"/>
              <a:t>operations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 smtClean="0"/>
              <a:t> Efficient handling of large datasets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 smtClean="0"/>
              <a:t> Backbone </a:t>
            </a:r>
            <a:r>
              <a:rPr lang="en-US" sz="2800" dirty="0"/>
              <a:t>of Pandas, Matplotlib, </a:t>
            </a:r>
            <a:r>
              <a:rPr lang="en-US" sz="2800" dirty="0" err="1"/>
              <a:t>Scikit</a:t>
            </a:r>
            <a:r>
              <a:rPr lang="en-US" sz="2800" dirty="0"/>
              <a:t>-learn, etc</a:t>
            </a:r>
            <a:r>
              <a:rPr lang="en-US" sz="2800" dirty="0" smtClean="0"/>
              <a:t>.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sz="2800" i="1" dirty="0" smtClean="0"/>
              <a:t>  NumPy </a:t>
            </a:r>
            <a:r>
              <a:rPr lang="en-US" sz="2800" i="1" dirty="0"/>
              <a:t>makes complex numerical tasks faster and easier.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49128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NumPy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1580" y="1760220"/>
            <a:ext cx="10637520" cy="4023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b="1" dirty="0"/>
              <a:t>NumPy</a:t>
            </a:r>
            <a:r>
              <a:rPr lang="en-US" sz="3600" dirty="0"/>
              <a:t> is a Python library used for:</a:t>
            </a:r>
            <a:endParaRPr lang="en-US" sz="36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Handling </a:t>
            </a:r>
            <a:r>
              <a:rPr lang="en-US" sz="2800" b="1" dirty="0"/>
              <a:t>arrays</a:t>
            </a:r>
            <a:r>
              <a:rPr lang="en-US" sz="2800" dirty="0"/>
              <a:t> (like lists but faster and more </a:t>
            </a:r>
            <a:r>
              <a:rPr lang="en-US" sz="2800" dirty="0" smtClean="0"/>
              <a:t>powerful)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 smtClean="0"/>
              <a:t>Performing </a:t>
            </a:r>
            <a:r>
              <a:rPr lang="en-US" sz="2800" b="1" dirty="0"/>
              <a:t>mathematical and statistical operations</a:t>
            </a:r>
            <a:r>
              <a:rPr lang="en-US" sz="2800" dirty="0"/>
              <a:t> </a:t>
            </a:r>
            <a:r>
              <a:rPr lang="en-US" sz="2800" dirty="0" smtClean="0"/>
              <a:t>efficiently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 smtClean="0"/>
              <a:t>Supporting </a:t>
            </a:r>
            <a:r>
              <a:rPr lang="en-US" sz="2800" b="1" dirty="0"/>
              <a:t>matrix operations</a:t>
            </a:r>
            <a:r>
              <a:rPr lang="en-US" sz="2800" dirty="0"/>
              <a:t> and </a:t>
            </a:r>
            <a:r>
              <a:rPr lang="en-US" sz="2800" b="1" dirty="0"/>
              <a:t>data </a:t>
            </a:r>
            <a:r>
              <a:rPr lang="en-US" sz="2800" b="1" dirty="0" smtClean="0"/>
              <a:t>manipulation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 smtClean="0"/>
              <a:t>You </a:t>
            </a:r>
            <a:r>
              <a:rPr lang="en-US" sz="2800" dirty="0"/>
              <a:t>first need to import it</a:t>
            </a:r>
            <a:r>
              <a:rPr lang="en-US" sz="2800" dirty="0" smtClean="0"/>
              <a:t>:</a:t>
            </a:r>
          </a:p>
          <a:p>
            <a:pPr>
              <a:lnSpc>
                <a:spcPct val="150000"/>
              </a:lnSpc>
            </a:pPr>
            <a:r>
              <a:rPr lang="en-US" sz="2800" i="1" dirty="0">
                <a:solidFill>
                  <a:srgbClr val="FF0000"/>
                </a:solidFill>
              </a:rPr>
              <a:t>    import </a:t>
            </a:r>
            <a:r>
              <a:rPr lang="en-US" sz="2800" i="1" dirty="0">
                <a:solidFill>
                  <a:srgbClr val="00B050"/>
                </a:solidFill>
              </a:rPr>
              <a:t>numpy</a:t>
            </a:r>
            <a:r>
              <a:rPr lang="en-US" sz="2800" i="1" dirty="0"/>
              <a:t> as </a:t>
            </a:r>
            <a:r>
              <a:rPr lang="en-US" sz="2800" i="1" dirty="0">
                <a:solidFill>
                  <a:srgbClr val="00B050"/>
                </a:solidFill>
              </a:rPr>
              <a:t>np</a:t>
            </a:r>
            <a:endParaRPr lang="en-US" sz="2800" i="1" dirty="0" smtClean="0">
              <a:solidFill>
                <a:srgbClr val="00B050"/>
              </a:solidFill>
            </a:endParaRPr>
          </a:p>
          <a:p>
            <a:endParaRPr lang="en-US" sz="2400" i="1" dirty="0"/>
          </a:p>
          <a:p>
            <a:endParaRPr lang="en-US" sz="2400" i="1" dirty="0" smtClean="0"/>
          </a:p>
          <a:p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2002247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dirty="0"/>
              <a:t>Array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Perform arithmetic directly on </a:t>
            </a:r>
            <a:r>
              <a:rPr lang="en-US" sz="2800" b="1" dirty="0" smtClean="0"/>
              <a:t>arrays:</a:t>
            </a:r>
          </a:p>
          <a:p>
            <a:r>
              <a:rPr lang="es-ES" sz="2800" i="1" dirty="0"/>
              <a:t>x = </a:t>
            </a:r>
            <a:r>
              <a:rPr lang="es-ES" sz="2800" i="1" dirty="0" err="1"/>
              <a:t>np.array</a:t>
            </a:r>
            <a:r>
              <a:rPr lang="es-ES" sz="2800" i="1" dirty="0"/>
              <a:t>([10, 20, 30])</a:t>
            </a:r>
          </a:p>
          <a:p>
            <a:r>
              <a:rPr lang="es-ES" sz="2800" i="1" dirty="0"/>
              <a:t>y = </a:t>
            </a:r>
            <a:r>
              <a:rPr lang="es-ES" sz="2800" i="1" dirty="0" err="1"/>
              <a:t>np.array</a:t>
            </a:r>
            <a:r>
              <a:rPr lang="es-ES" sz="2800" i="1" dirty="0"/>
              <a:t>([1, 2, 3])</a:t>
            </a:r>
          </a:p>
          <a:p>
            <a:r>
              <a:rPr lang="es-ES" sz="2800" i="1" dirty="0" err="1"/>
              <a:t>print</a:t>
            </a:r>
            <a:r>
              <a:rPr lang="es-ES" sz="2800" i="1" dirty="0"/>
              <a:t>(x + y)  # [11 22 33]</a:t>
            </a:r>
          </a:p>
          <a:p>
            <a:r>
              <a:rPr lang="es-ES" sz="2800" i="1" dirty="0" err="1"/>
              <a:t>print</a:t>
            </a:r>
            <a:r>
              <a:rPr lang="es-ES" sz="2800" i="1" dirty="0"/>
              <a:t>(x * y)  # [10 40 </a:t>
            </a:r>
            <a:r>
              <a:rPr lang="es-ES" sz="2800" i="1" dirty="0" smtClean="0"/>
              <a:t>90]</a:t>
            </a:r>
          </a:p>
          <a:p>
            <a:endParaRPr lang="es-ES" sz="2800" i="1" dirty="0"/>
          </a:p>
          <a:p>
            <a:r>
              <a:rPr lang="en-US" sz="2800" dirty="0">
                <a:solidFill>
                  <a:srgbClr val="00B050"/>
                </a:solidFill>
              </a:rPr>
              <a:t>NumPy</a:t>
            </a:r>
            <a:r>
              <a:rPr lang="en-US" sz="2800" dirty="0"/>
              <a:t> uses vectorization — operations on entire arrays at once!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2776546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b="1" dirty="0"/>
              <a:t>Indexing </a:t>
            </a:r>
            <a:r>
              <a:rPr lang="en-US" sz="7200" b="1" dirty="0" smtClean="0"/>
              <a:t>And </a:t>
            </a:r>
            <a:r>
              <a:rPr lang="en-US" sz="7200" b="1" dirty="0"/>
              <a:t>Slicing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i="1" dirty="0" err="1"/>
              <a:t>arr</a:t>
            </a:r>
            <a:r>
              <a:rPr lang="en-US" sz="3200" i="1" dirty="0"/>
              <a:t> = np.array([10, 20, 30, 40, 50])</a:t>
            </a:r>
          </a:p>
          <a:p>
            <a:r>
              <a:rPr lang="en-US" sz="3200" i="1" dirty="0"/>
              <a:t>print(</a:t>
            </a:r>
            <a:r>
              <a:rPr lang="en-US" sz="3200" i="1" dirty="0" err="1"/>
              <a:t>arr</a:t>
            </a:r>
            <a:r>
              <a:rPr lang="en-US" sz="3200" i="1" dirty="0"/>
              <a:t>[0])      # First element</a:t>
            </a:r>
          </a:p>
          <a:p>
            <a:r>
              <a:rPr lang="en-US" sz="3200" i="1" dirty="0"/>
              <a:t>print(</a:t>
            </a:r>
            <a:r>
              <a:rPr lang="en-US" sz="3200" i="1" dirty="0" err="1"/>
              <a:t>arr</a:t>
            </a:r>
            <a:r>
              <a:rPr lang="en-US" sz="3200" i="1" dirty="0"/>
              <a:t>[1:4])    # Slice elements </a:t>
            </a:r>
            <a:r>
              <a:rPr lang="en-US" sz="3200" i="1" dirty="0" smtClean="0"/>
              <a:t>1–3</a:t>
            </a:r>
          </a:p>
          <a:p>
            <a:endParaRPr lang="en-US" sz="3200" i="1" dirty="0"/>
          </a:p>
          <a:p>
            <a:r>
              <a:rPr lang="en-US" sz="3200" i="1" dirty="0"/>
              <a:t>b = np.array([[1,2,3],[4,5,6]])</a:t>
            </a:r>
          </a:p>
          <a:p>
            <a:r>
              <a:rPr lang="en-US" sz="3200" i="1" dirty="0"/>
              <a:t>print(b[1,2])  # Access row 1, col 2</a:t>
            </a:r>
          </a:p>
        </p:txBody>
      </p:sp>
    </p:spTree>
    <p:extLst>
      <p:ext uri="{BB962C8B-B14F-4D97-AF65-F5344CB8AC3E}">
        <p14:creationId xmlns:p14="http://schemas.microsoft.com/office/powerpoint/2010/main" val="2676461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Useful NumPy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np.mean</a:t>
            </a:r>
            <a:r>
              <a:rPr lang="en-US" sz="3200" dirty="0"/>
              <a:t>(a)     # Average</a:t>
            </a:r>
          </a:p>
          <a:p>
            <a:r>
              <a:rPr lang="en-US" sz="3200" dirty="0" err="1"/>
              <a:t>np.median</a:t>
            </a:r>
            <a:r>
              <a:rPr lang="en-US" sz="3200" dirty="0"/>
              <a:t>(a)   # Median</a:t>
            </a:r>
          </a:p>
          <a:p>
            <a:r>
              <a:rPr lang="en-US" sz="3200" dirty="0" err="1"/>
              <a:t>np.std</a:t>
            </a:r>
            <a:r>
              <a:rPr lang="en-US" sz="3200" dirty="0"/>
              <a:t>(a)      # Standard deviation</a:t>
            </a:r>
          </a:p>
          <a:p>
            <a:r>
              <a:rPr lang="en-US" sz="3200" dirty="0" err="1"/>
              <a:t>np.sum</a:t>
            </a:r>
            <a:r>
              <a:rPr lang="en-US" sz="3200" dirty="0"/>
              <a:t>(a)      # Total </a:t>
            </a:r>
            <a:r>
              <a:rPr lang="en-US" sz="3200" dirty="0" smtClean="0"/>
              <a:t>sum</a:t>
            </a:r>
          </a:p>
          <a:p>
            <a:endParaRPr lang="en-US" sz="3200" dirty="0" smtClean="0"/>
          </a:p>
          <a:p>
            <a:r>
              <a:rPr lang="en-US" sz="3600" dirty="0"/>
              <a:t>These functions make numerical summaries easy.</a:t>
            </a:r>
          </a:p>
        </p:txBody>
      </p:sp>
    </p:spTree>
    <p:extLst>
      <p:ext uri="{BB962C8B-B14F-4D97-AF65-F5344CB8AC3E}">
        <p14:creationId xmlns:p14="http://schemas.microsoft.com/office/powerpoint/2010/main" val="2722714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9600" b="1" dirty="0"/>
              <a:t>Creating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i="1" dirty="0">
                <a:solidFill>
                  <a:srgbClr val="00B050"/>
                </a:solidFill>
              </a:rPr>
              <a:t>import</a:t>
            </a:r>
            <a:r>
              <a:rPr lang="en-US" sz="3200" i="1" dirty="0"/>
              <a:t> </a:t>
            </a:r>
            <a:r>
              <a:rPr lang="en-US" sz="3200" i="1" dirty="0">
                <a:solidFill>
                  <a:srgbClr val="FF0000"/>
                </a:solidFill>
              </a:rPr>
              <a:t>numpy</a:t>
            </a:r>
            <a:r>
              <a:rPr lang="en-US" sz="3200" i="1" dirty="0"/>
              <a:t> as </a:t>
            </a:r>
            <a:r>
              <a:rPr lang="en-US" sz="3200" i="1" dirty="0" smtClean="0">
                <a:solidFill>
                  <a:srgbClr val="00B050"/>
                </a:solidFill>
              </a:rPr>
              <a:t>np</a:t>
            </a:r>
            <a:endParaRPr lang="en-US" sz="3200" i="1" dirty="0"/>
          </a:p>
          <a:p>
            <a:r>
              <a:rPr lang="en-US" sz="3200" i="1" dirty="0" err="1"/>
              <a:t>arr</a:t>
            </a:r>
            <a:r>
              <a:rPr lang="en-US" sz="3200" i="1" dirty="0"/>
              <a:t> = np.array([1, 2, 3, 4, 5])</a:t>
            </a:r>
          </a:p>
          <a:p>
            <a:r>
              <a:rPr lang="en-US" sz="3200" i="1" dirty="0"/>
              <a:t>print(</a:t>
            </a:r>
            <a:r>
              <a:rPr lang="en-US" sz="3200" i="1" dirty="0" err="1"/>
              <a:t>arr</a:t>
            </a:r>
            <a:r>
              <a:rPr lang="en-US" sz="3200" i="1" dirty="0" smtClean="0"/>
              <a:t>)</a:t>
            </a:r>
          </a:p>
          <a:p>
            <a:endParaRPr lang="en-US" sz="3200" i="1" dirty="0"/>
          </a:p>
          <a:p>
            <a:r>
              <a:rPr lang="en-US" sz="3200" b="1" dirty="0" smtClean="0"/>
              <a:t>Output:</a:t>
            </a:r>
          </a:p>
          <a:p>
            <a:r>
              <a:rPr lang="en-US" sz="3200" dirty="0"/>
              <a:t>      [1 2 3 4 5]</a:t>
            </a:r>
          </a:p>
        </p:txBody>
      </p:sp>
    </p:spTree>
    <p:extLst>
      <p:ext uri="{BB962C8B-B14F-4D97-AF65-F5344CB8AC3E}">
        <p14:creationId xmlns:p14="http://schemas.microsoft.com/office/powerpoint/2010/main" val="3486859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300" b="1" dirty="0"/>
              <a:t>Useful NumPy Functions (with examples)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Array Creation </a:t>
            </a:r>
            <a:r>
              <a:rPr lang="en-US" sz="3600" b="1" dirty="0" smtClean="0"/>
              <a:t>Functions:</a:t>
            </a:r>
          </a:p>
          <a:p>
            <a:endParaRPr lang="en-US" sz="1800" b="1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355134"/>
              </p:ext>
            </p:extLst>
          </p:nvPr>
        </p:nvGraphicFramePr>
        <p:xfrm>
          <a:off x="1097280" y="2470574"/>
          <a:ext cx="10764519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8173"/>
                <a:gridCol w="3588173"/>
                <a:gridCol w="3588173"/>
              </a:tblGrid>
              <a:tr h="503848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solidFill>
                            <a:srgbClr val="FF0000"/>
                          </a:solidFill>
                        </a:rPr>
                        <a:t>Function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solidFill>
                            <a:srgbClr val="FF0000"/>
                          </a:solidFill>
                        </a:rPr>
                        <a:t>Usage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solidFill>
                            <a:srgbClr val="FF0000"/>
                          </a:solidFill>
                        </a:rPr>
                        <a:t>Output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</a:tr>
              <a:tr h="503848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np.add</a:t>
                      </a:r>
                      <a:r>
                        <a:rPr lang="en-US" sz="2800" dirty="0" smtClean="0"/>
                        <a:t>()</a:t>
                      </a:r>
                      <a:endParaRPr lang="en-US" sz="2800" b="1" dirty="0"/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np.add</a:t>
                      </a:r>
                      <a:r>
                        <a:rPr lang="en-US" sz="2800" dirty="0" smtClean="0"/>
                        <a:t>(2, 3)</a:t>
                      </a:r>
                      <a:endParaRPr lang="en-US" sz="28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5</a:t>
                      </a:r>
                      <a:endParaRPr lang="en-US" sz="28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</a:tr>
              <a:tr h="510846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np.subtract</a:t>
                      </a:r>
                      <a:r>
                        <a:rPr lang="en-US" sz="2800" dirty="0" smtClean="0"/>
                        <a:t>()</a:t>
                      </a:r>
                      <a:endParaRPr lang="en-US" sz="28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np.subtract</a:t>
                      </a:r>
                      <a:r>
                        <a:rPr lang="en-US" sz="2800" dirty="0" smtClean="0"/>
                        <a:t>(10, 4)</a:t>
                      </a:r>
                      <a:endParaRPr lang="en-US" sz="28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6</a:t>
                      </a:r>
                      <a:endParaRPr lang="en-US" sz="28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</a:tr>
              <a:tr h="510846">
                <a:tc>
                  <a:txBody>
                    <a:bodyPr/>
                    <a:lstStyle/>
                    <a:p>
                      <a:r>
                        <a:rPr lang="en-US" sz="2800" dirty="0" err="1"/>
                        <a:t>np.multiply</a:t>
                      </a:r>
                      <a:r>
                        <a:rPr lang="en-US" sz="2800" dirty="0"/>
                        <a:t>()</a:t>
                      </a:r>
                      <a:endParaRPr lang="en-US" sz="2800" b="1" dirty="0"/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np.multiply</a:t>
                      </a:r>
                      <a:r>
                        <a:rPr lang="en-US" sz="2800" dirty="0" smtClean="0"/>
                        <a:t>(3, 5)</a:t>
                      </a:r>
                      <a:endParaRPr lang="en-US" sz="2800" b="1" dirty="0"/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15</a:t>
                      </a:r>
                      <a:endParaRPr lang="en-US" sz="28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</a:tr>
              <a:tr h="510846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np.divide</a:t>
                      </a:r>
                      <a:r>
                        <a:rPr lang="en-US" sz="2800" dirty="0" smtClean="0"/>
                        <a:t>()</a:t>
                      </a:r>
                      <a:endParaRPr lang="en-US" sz="2800" b="1" dirty="0"/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np.divide</a:t>
                      </a:r>
                      <a:r>
                        <a:rPr lang="en-US" sz="2800" dirty="0" smtClean="0"/>
                        <a:t>(10, 2)</a:t>
                      </a:r>
                      <a:endParaRPr lang="en-US" sz="2800" b="1" dirty="0"/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5.0</a:t>
                      </a:r>
                      <a:endParaRPr lang="en-US" sz="28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</a:tr>
              <a:tr h="510846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np.power</a:t>
                      </a:r>
                      <a:r>
                        <a:rPr lang="en-US" sz="2800" dirty="0" smtClean="0"/>
                        <a:t>()</a:t>
                      </a:r>
                      <a:endParaRPr lang="en-US" sz="2800" b="1" dirty="0"/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np.power</a:t>
                      </a:r>
                      <a:r>
                        <a:rPr lang="en-US" sz="2800" dirty="0" smtClean="0"/>
                        <a:t>(2, 3)</a:t>
                      </a:r>
                      <a:endParaRPr lang="en-US" sz="2800" b="1" dirty="0"/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8</a:t>
                      </a:r>
                      <a:endParaRPr lang="en-US" sz="28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</a:tr>
              <a:tr h="510846">
                <a:tc>
                  <a:txBody>
                    <a:bodyPr/>
                    <a:lstStyle/>
                    <a:p>
                      <a:endParaRPr lang="en-US" sz="2800" b="1" dirty="0"/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2800" b="1" dirty="0"/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28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2794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dirty="0"/>
              <a:t>Statistical </a:t>
            </a:r>
            <a:r>
              <a:rPr lang="en-US" sz="6600" b="1" dirty="0" smtClean="0"/>
              <a:t>Functions</a:t>
            </a:r>
            <a:endParaRPr lang="en-US" sz="6600" b="1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1657451"/>
              </p:ext>
            </p:extLst>
          </p:nvPr>
        </p:nvGraphicFramePr>
        <p:xfrm>
          <a:off x="1097280" y="2755583"/>
          <a:ext cx="10058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solidFill>
                            <a:srgbClr val="FF0000"/>
                          </a:solidFill>
                        </a:rPr>
                        <a:t>Function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>
                        <a:alpha val="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solidFill>
                            <a:srgbClr val="FF0000"/>
                          </a:solidFill>
                        </a:rPr>
                        <a:t>usage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>
                        <a:alpha val="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>
                          <a:solidFill>
                            <a:srgbClr val="FF0000"/>
                          </a:solidFill>
                        </a:rPr>
                        <a:t>Output</a:t>
                      </a:r>
                      <a:endParaRPr 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>
                        <a:alpha val="2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np.mean()</a:t>
                      </a:r>
                      <a:endParaRPr lang="en-US" sz="3200" dirty="0"/>
                    </a:p>
                  </a:txBody>
                  <a:tcPr>
                    <a:solidFill>
                      <a:schemeClr val="bg1">
                        <a:alpha val="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30.0</a:t>
                      </a:r>
                      <a:endParaRPr lang="en-US" sz="3200" dirty="0"/>
                    </a:p>
                  </a:txBody>
                  <a:tcPr>
                    <a:solidFill>
                      <a:schemeClr val="bg1">
                        <a:alpha val="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average</a:t>
                      </a:r>
                      <a:endParaRPr lang="en-US" sz="3200" dirty="0"/>
                    </a:p>
                  </a:txBody>
                  <a:tcPr>
                    <a:solidFill>
                      <a:schemeClr val="bg1">
                        <a:alpha val="2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 err="1" smtClean="0"/>
                        <a:t>np.meadian</a:t>
                      </a:r>
                      <a:r>
                        <a:rPr lang="en-US" sz="3200" dirty="0" smtClean="0"/>
                        <a:t>()</a:t>
                      </a:r>
                      <a:endParaRPr lang="en-US" sz="3200" dirty="0"/>
                    </a:p>
                  </a:txBody>
                  <a:tcPr>
                    <a:solidFill>
                      <a:schemeClr val="bg1">
                        <a:alpha val="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30.0</a:t>
                      </a:r>
                      <a:endParaRPr lang="en-US" sz="3200" dirty="0"/>
                    </a:p>
                  </a:txBody>
                  <a:tcPr>
                    <a:solidFill>
                      <a:schemeClr val="bg1">
                        <a:alpha val="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median</a:t>
                      </a:r>
                      <a:endParaRPr lang="en-US" sz="3200" dirty="0"/>
                    </a:p>
                  </a:txBody>
                  <a:tcPr>
                    <a:solidFill>
                      <a:schemeClr val="bg1">
                        <a:alpha val="2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np.std()</a:t>
                      </a:r>
                      <a:endParaRPr lang="en-US" sz="3200" dirty="0"/>
                    </a:p>
                  </a:txBody>
                  <a:tcPr>
                    <a:solidFill>
                      <a:schemeClr val="bg1">
                        <a:alpha val="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14.14</a:t>
                      </a:r>
                      <a:endParaRPr lang="en-US" sz="3200" dirty="0"/>
                    </a:p>
                  </a:txBody>
                  <a:tcPr>
                    <a:solidFill>
                      <a:schemeClr val="bg1">
                        <a:alpha val="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Standard deviation</a:t>
                      </a:r>
                      <a:endParaRPr lang="en-US" sz="3200" dirty="0"/>
                    </a:p>
                  </a:txBody>
                  <a:tcPr>
                    <a:solidFill>
                      <a:schemeClr val="bg1">
                        <a:alpha val="2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np.sum()</a:t>
                      </a:r>
                      <a:endParaRPr lang="en-US" sz="3200" dirty="0"/>
                    </a:p>
                  </a:txBody>
                  <a:tcPr>
                    <a:solidFill>
                      <a:schemeClr val="bg1">
                        <a:alpha val="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150.0</a:t>
                      </a:r>
                      <a:endParaRPr lang="en-US" sz="3200" dirty="0"/>
                    </a:p>
                  </a:txBody>
                  <a:tcPr>
                    <a:solidFill>
                      <a:schemeClr val="bg1">
                        <a:alpha val="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sum</a:t>
                      </a:r>
                      <a:endParaRPr lang="en-US" sz="3200" dirty="0"/>
                    </a:p>
                  </a:txBody>
                  <a:tcPr>
                    <a:solidFill>
                      <a:schemeClr val="bg1">
                        <a:alpha val="2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 err="1" smtClean="0"/>
                        <a:t>np.var</a:t>
                      </a:r>
                      <a:r>
                        <a:rPr lang="en-US" sz="3200" dirty="0" smtClean="0"/>
                        <a:t>()</a:t>
                      </a:r>
                      <a:endParaRPr lang="en-US" sz="3200" dirty="0"/>
                    </a:p>
                  </a:txBody>
                  <a:tcPr>
                    <a:solidFill>
                      <a:schemeClr val="bg1">
                        <a:alpha val="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200.0</a:t>
                      </a:r>
                      <a:endParaRPr lang="en-US" sz="3200" dirty="0"/>
                    </a:p>
                  </a:txBody>
                  <a:tcPr>
                    <a:solidFill>
                      <a:schemeClr val="bg1">
                        <a:alpha val="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variance</a:t>
                      </a:r>
                      <a:endParaRPr lang="en-US" sz="3200" dirty="0"/>
                    </a:p>
                  </a:txBody>
                  <a:tcPr>
                    <a:solidFill>
                      <a:schemeClr val="bg1">
                        <a:alpha val="2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" y="1871534"/>
            <a:ext cx="61571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data = np.array([10, 20, 30, 40, 50])</a:t>
            </a:r>
          </a:p>
        </p:txBody>
      </p:sp>
    </p:spTree>
    <p:extLst>
      <p:ext uri="{BB962C8B-B14F-4D97-AF65-F5344CB8AC3E}">
        <p14:creationId xmlns:p14="http://schemas.microsoft.com/office/powerpoint/2010/main" val="2748795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6600" b="1" dirty="0"/>
              <a:t>Array Manipulation Functions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958018"/>
              </p:ext>
            </p:extLst>
          </p:nvPr>
        </p:nvGraphicFramePr>
        <p:xfrm>
          <a:off x="455929" y="2489200"/>
          <a:ext cx="11595102" cy="4279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5034"/>
                <a:gridCol w="3865034"/>
                <a:gridCol w="3865034"/>
              </a:tblGrid>
              <a:tr h="835343">
                <a:tc>
                  <a:txBody>
                    <a:bodyPr/>
                    <a:lstStyle/>
                    <a:p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Function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gradFill>
                      <a:gsLst>
                        <a:gs pos="97000">
                          <a:schemeClr val="accent2">
                            <a:lumMod val="0"/>
                            <a:lumOff val="100000"/>
                            <a:alpha val="2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Usage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gradFill>
                      <a:gsLst>
                        <a:gs pos="97000">
                          <a:schemeClr val="accent2">
                            <a:lumMod val="0"/>
                            <a:lumOff val="100000"/>
                            <a:alpha val="2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Output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gradFill>
                      <a:gsLst>
                        <a:gs pos="97000">
                          <a:schemeClr val="accent2">
                            <a:lumMod val="0"/>
                            <a:lumOff val="100000"/>
                            <a:alpha val="2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 err="1" smtClean="0"/>
                        <a:t>arr.shape</a:t>
                      </a:r>
                      <a:endParaRPr lang="en-US" sz="2800" b="1" dirty="0"/>
                    </a:p>
                  </a:txBody>
                  <a:tcPr>
                    <a:gradFill>
                      <a:gsLst>
                        <a:gs pos="97000">
                          <a:schemeClr val="accent2">
                            <a:lumMod val="0"/>
                            <a:lumOff val="100000"/>
                            <a:alpha val="2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(2, 2)</a:t>
                      </a:r>
                      <a:endParaRPr lang="en-US" sz="2800" b="1" dirty="0"/>
                    </a:p>
                  </a:txBody>
                  <a:tcPr>
                    <a:gradFill>
                      <a:gsLst>
                        <a:gs pos="97000">
                          <a:schemeClr val="accent2">
                            <a:lumMod val="0"/>
                            <a:lumOff val="100000"/>
                            <a:alpha val="2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Returns array dimensions</a:t>
                      </a:r>
                      <a:endParaRPr lang="en-US" sz="2800" b="1" dirty="0"/>
                    </a:p>
                  </a:txBody>
                  <a:tcPr>
                    <a:gradFill>
                      <a:gsLst>
                        <a:gs pos="97000">
                          <a:schemeClr val="accent2">
                            <a:lumMod val="0"/>
                            <a:lumOff val="100000"/>
                            <a:alpha val="2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 err="1" smtClean="0"/>
                        <a:t>arr.reshape</a:t>
                      </a:r>
                      <a:r>
                        <a:rPr lang="en-US" sz="2800" b="1" dirty="0" smtClean="0"/>
                        <a:t>(4,)</a:t>
                      </a:r>
                      <a:endParaRPr lang="en-US" sz="2800" b="1" dirty="0"/>
                    </a:p>
                  </a:txBody>
                  <a:tcPr>
                    <a:gradFill>
                      <a:gsLst>
                        <a:gs pos="97000">
                          <a:schemeClr val="accent2">
                            <a:lumMod val="0"/>
                            <a:lumOff val="100000"/>
                            <a:alpha val="2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[1 2 3 4]</a:t>
                      </a:r>
                      <a:endParaRPr lang="en-US" sz="2800" b="1" dirty="0"/>
                    </a:p>
                  </a:txBody>
                  <a:tcPr>
                    <a:gradFill>
                      <a:gsLst>
                        <a:gs pos="97000">
                          <a:schemeClr val="accent2">
                            <a:lumMod val="0"/>
                            <a:lumOff val="100000"/>
                            <a:alpha val="2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Changes array shape</a:t>
                      </a:r>
                      <a:endParaRPr lang="en-US" sz="2800" b="1" dirty="0"/>
                    </a:p>
                  </a:txBody>
                  <a:tcPr>
                    <a:gradFill>
                      <a:gsLst>
                        <a:gs pos="97000">
                          <a:schemeClr val="accent2">
                            <a:lumMod val="0"/>
                            <a:lumOff val="100000"/>
                            <a:alpha val="2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 err="1" smtClean="0"/>
                        <a:t>arr.flatten</a:t>
                      </a:r>
                      <a:r>
                        <a:rPr lang="en-US" sz="2800" b="1" dirty="0" smtClean="0"/>
                        <a:t>()</a:t>
                      </a:r>
                      <a:endParaRPr lang="en-US" sz="2800" b="1" dirty="0"/>
                    </a:p>
                  </a:txBody>
                  <a:tcPr>
                    <a:gradFill>
                      <a:gsLst>
                        <a:gs pos="97000">
                          <a:schemeClr val="accent2">
                            <a:lumMod val="0"/>
                            <a:lumOff val="100000"/>
                            <a:alpha val="2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[1 2 3 4]</a:t>
                      </a:r>
                      <a:endParaRPr lang="en-US" sz="2800" b="1" dirty="0"/>
                    </a:p>
                  </a:txBody>
                  <a:tcPr>
                    <a:gradFill>
                      <a:gsLst>
                        <a:gs pos="97000">
                          <a:schemeClr val="accent2">
                            <a:lumMod val="0"/>
                            <a:lumOff val="100000"/>
                            <a:alpha val="2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Converts to 1D array</a:t>
                      </a:r>
                      <a:endParaRPr lang="en-US" sz="2800" b="1" dirty="0"/>
                    </a:p>
                  </a:txBody>
                  <a:tcPr>
                    <a:gradFill>
                      <a:gsLst>
                        <a:gs pos="97000">
                          <a:schemeClr val="accent2">
                            <a:lumMod val="0"/>
                            <a:lumOff val="100000"/>
                            <a:alpha val="2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 err="1" smtClean="0"/>
                        <a:t>np.concatenate</a:t>
                      </a:r>
                      <a:r>
                        <a:rPr lang="en-US" sz="2800" b="1" dirty="0" smtClean="0"/>
                        <a:t>([a, b])</a:t>
                      </a:r>
                      <a:endParaRPr lang="en-US" sz="2800" b="1" dirty="0"/>
                    </a:p>
                  </a:txBody>
                  <a:tcPr>
                    <a:gradFill>
                      <a:gsLst>
                        <a:gs pos="97000">
                          <a:schemeClr val="accent2">
                            <a:lumMod val="0"/>
                            <a:lumOff val="100000"/>
                            <a:alpha val="2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Joins arrays</a:t>
                      </a:r>
                      <a:endParaRPr lang="en-US" sz="2800" b="1" dirty="0"/>
                    </a:p>
                  </a:txBody>
                  <a:tcPr>
                    <a:gradFill>
                      <a:gsLst>
                        <a:gs pos="97000">
                          <a:schemeClr val="accent2">
                            <a:lumMod val="0"/>
                            <a:lumOff val="100000"/>
                            <a:alpha val="2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2800" b="1" dirty="0"/>
                    </a:p>
                  </a:txBody>
                  <a:tcPr>
                    <a:gradFill>
                      <a:gsLst>
                        <a:gs pos="97000">
                          <a:schemeClr val="accent2">
                            <a:lumMod val="0"/>
                            <a:lumOff val="100000"/>
                            <a:alpha val="2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 err="1" smtClean="0"/>
                        <a:t>arr.T</a:t>
                      </a:r>
                      <a:endParaRPr lang="en-US" sz="2800" b="1" dirty="0"/>
                    </a:p>
                  </a:txBody>
                  <a:tcPr>
                    <a:gradFill>
                      <a:gsLst>
                        <a:gs pos="97000">
                          <a:schemeClr val="accent2">
                            <a:lumMod val="0"/>
                            <a:lumOff val="100000"/>
                            <a:alpha val="2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Transposes (swaps rows ↔ columns)</a:t>
                      </a:r>
                      <a:endParaRPr lang="en-US" sz="2800" b="1" dirty="0"/>
                    </a:p>
                  </a:txBody>
                  <a:tcPr>
                    <a:gradFill>
                      <a:gsLst>
                        <a:gs pos="97000">
                          <a:schemeClr val="accent2">
                            <a:lumMod val="0"/>
                            <a:lumOff val="100000"/>
                            <a:alpha val="2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sz="2800" b="1" dirty="0"/>
                    </a:p>
                  </a:txBody>
                  <a:tcPr>
                    <a:gradFill>
                      <a:gsLst>
                        <a:gs pos="97000">
                          <a:schemeClr val="accent2">
                            <a:lumMod val="0"/>
                            <a:lumOff val="100000"/>
                            <a:alpha val="2000"/>
                          </a:schemeClr>
                        </a:gs>
                        <a:gs pos="35000">
                          <a:schemeClr val="accent2">
                            <a:lumMod val="0"/>
                            <a:lumOff val="100000"/>
                          </a:schemeClr>
                        </a:gs>
                        <a:gs pos="100000">
                          <a:schemeClr val="accent2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</a:gra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5929" y="1737360"/>
            <a:ext cx="5297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arr</a:t>
            </a:r>
            <a:r>
              <a:rPr lang="en-US" sz="3200" dirty="0"/>
              <a:t> = np.array([[1, 2], [3, 4]])</a:t>
            </a:r>
          </a:p>
        </p:txBody>
      </p:sp>
    </p:spTree>
    <p:extLst>
      <p:ext uri="{BB962C8B-B14F-4D97-AF65-F5344CB8AC3E}">
        <p14:creationId xmlns:p14="http://schemas.microsoft.com/office/powerpoint/2010/main" val="947612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Random &amp; Utility Functions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17102"/>
              </p:ext>
            </p:extLst>
          </p:nvPr>
        </p:nvGraphicFramePr>
        <p:xfrm>
          <a:off x="1097280" y="1866217"/>
          <a:ext cx="10459720" cy="413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9860"/>
                <a:gridCol w="5229860"/>
              </a:tblGrid>
              <a:tr h="689240">
                <a:tc>
                  <a:txBody>
                    <a:bodyPr/>
                    <a:lstStyle/>
                    <a:p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Function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Description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</a:tr>
              <a:tr h="689240">
                <a:tc>
                  <a:txBody>
                    <a:bodyPr/>
                    <a:lstStyle/>
                    <a:p>
                      <a:r>
                        <a:rPr lang="en-US" sz="2800" b="1" dirty="0" err="1" smtClean="0"/>
                        <a:t>np.random.rand</a:t>
                      </a:r>
                      <a:r>
                        <a:rPr lang="en-US" sz="2800" b="1" dirty="0" smtClean="0"/>
                        <a:t>(3)</a:t>
                      </a:r>
                      <a:endParaRPr lang="en-US" sz="28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Random values between 0 and 1</a:t>
                      </a:r>
                      <a:endParaRPr lang="en-US" sz="28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</a:tr>
              <a:tr h="689240">
                <a:tc>
                  <a:txBody>
                    <a:bodyPr/>
                    <a:lstStyle/>
                    <a:p>
                      <a:r>
                        <a:rPr lang="en-US" sz="2800" b="1" dirty="0" err="1" smtClean="0"/>
                        <a:t>np.random.randint</a:t>
                      </a:r>
                      <a:r>
                        <a:rPr lang="en-US" sz="2800" b="1" dirty="0" smtClean="0"/>
                        <a:t>(1, 10, 5)</a:t>
                      </a:r>
                      <a:endParaRPr lang="en-US" sz="28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Random integers between 1–9</a:t>
                      </a:r>
                      <a:endParaRPr lang="en-US" sz="28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</a:tr>
              <a:tr h="689240">
                <a:tc>
                  <a:txBody>
                    <a:bodyPr/>
                    <a:lstStyle/>
                    <a:p>
                      <a:r>
                        <a:rPr lang="en-US" sz="2800" b="1" dirty="0" err="1" smtClean="0"/>
                        <a:t>np.unique</a:t>
                      </a:r>
                      <a:r>
                        <a:rPr lang="en-US" sz="2800" b="1" dirty="0" smtClean="0"/>
                        <a:t>(</a:t>
                      </a:r>
                      <a:r>
                        <a:rPr lang="en-US" sz="2800" b="1" dirty="0" err="1" smtClean="0"/>
                        <a:t>arr</a:t>
                      </a:r>
                      <a:r>
                        <a:rPr lang="en-US" sz="2800" b="1" dirty="0" smtClean="0"/>
                        <a:t>)</a:t>
                      </a:r>
                      <a:endParaRPr lang="en-US" sz="28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Finds unique elements</a:t>
                      </a:r>
                      <a:endParaRPr lang="en-US" sz="28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</a:tr>
              <a:tr h="689240">
                <a:tc>
                  <a:txBody>
                    <a:bodyPr/>
                    <a:lstStyle/>
                    <a:p>
                      <a:r>
                        <a:rPr lang="en-US" sz="2800" b="1" dirty="0" err="1" smtClean="0"/>
                        <a:t>np.sort</a:t>
                      </a:r>
                      <a:r>
                        <a:rPr lang="en-US" sz="2800" b="1" dirty="0" smtClean="0"/>
                        <a:t>(</a:t>
                      </a:r>
                      <a:r>
                        <a:rPr lang="en-US" sz="2800" b="1" dirty="0" err="1" smtClean="0"/>
                        <a:t>arr</a:t>
                      </a:r>
                      <a:r>
                        <a:rPr lang="en-US" sz="2800" b="1" dirty="0" smtClean="0"/>
                        <a:t>)</a:t>
                      </a:r>
                      <a:endParaRPr lang="en-US" sz="28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Sorts elements</a:t>
                      </a:r>
                      <a:endParaRPr lang="en-US" sz="28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</a:tr>
              <a:tr h="689240">
                <a:tc>
                  <a:txBody>
                    <a:bodyPr/>
                    <a:lstStyle/>
                    <a:p>
                      <a:r>
                        <a:rPr lang="en-US" sz="2800" b="1" dirty="0" err="1" smtClean="0"/>
                        <a:t>np.max</a:t>
                      </a:r>
                      <a:r>
                        <a:rPr lang="en-US" sz="2800" b="1" dirty="0" smtClean="0"/>
                        <a:t>(</a:t>
                      </a:r>
                      <a:r>
                        <a:rPr lang="en-US" sz="2800" b="1" dirty="0" err="1" smtClean="0"/>
                        <a:t>arr</a:t>
                      </a:r>
                      <a:r>
                        <a:rPr lang="en-US" sz="2800" b="1" dirty="0" smtClean="0"/>
                        <a:t>) / </a:t>
                      </a:r>
                      <a:r>
                        <a:rPr lang="en-US" sz="2800" b="1" dirty="0" err="1" smtClean="0"/>
                        <a:t>np.min</a:t>
                      </a:r>
                      <a:r>
                        <a:rPr lang="en-US" sz="2800" b="1" dirty="0" smtClean="0"/>
                        <a:t>(</a:t>
                      </a:r>
                      <a:r>
                        <a:rPr lang="en-US" sz="2800" b="1" dirty="0" err="1" smtClean="0"/>
                        <a:t>arr</a:t>
                      </a:r>
                      <a:r>
                        <a:rPr lang="en-US" sz="2800" b="1" dirty="0" smtClean="0"/>
                        <a:t>)</a:t>
                      </a:r>
                      <a:endParaRPr lang="en-US" sz="28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Finds maximum/minimum values</a:t>
                      </a:r>
                      <a:endParaRPr lang="en-US" sz="2800" b="1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2">
                            <a:lumMod val="5000"/>
                            <a:lumOff val="95000"/>
                          </a:schemeClr>
                        </a:gs>
                        <a:gs pos="74000">
                          <a:schemeClr val="accent2">
                            <a:lumMod val="45000"/>
                            <a:lumOff val="55000"/>
                          </a:schemeClr>
                        </a:gs>
                        <a:gs pos="83000">
                          <a:schemeClr val="accent2">
                            <a:lumMod val="45000"/>
                            <a:lumOff val="55000"/>
                          </a:schemeClr>
                        </a:gs>
                        <a:gs pos="100000">
                          <a:schemeClr val="accent2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760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1094720" cy="1450757"/>
          </a:xfrm>
        </p:spPr>
        <p:txBody>
          <a:bodyPr>
            <a:noAutofit/>
          </a:bodyPr>
          <a:lstStyle/>
          <a:p>
            <a:r>
              <a:rPr lang="en-US" b="1" dirty="0"/>
              <a:t>Using Multiple </a:t>
            </a:r>
            <a:r>
              <a:rPr lang="en-US" b="1" dirty="0">
                <a:solidFill>
                  <a:srgbClr val="7030A0"/>
                </a:solidFill>
              </a:rPr>
              <a:t>NumPy</a:t>
            </a:r>
            <a:r>
              <a:rPr lang="en-US" b="1" dirty="0"/>
              <a:t> Functions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3417" y="1737360"/>
            <a:ext cx="10850880" cy="4504266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import </a:t>
            </a:r>
            <a:r>
              <a:rPr lang="en-US" sz="4000" dirty="0">
                <a:solidFill>
                  <a:srgbClr val="00B050"/>
                </a:solidFill>
              </a:rPr>
              <a:t>numpy</a:t>
            </a:r>
            <a:r>
              <a:rPr lang="en-US" sz="4000" dirty="0"/>
              <a:t> as </a:t>
            </a:r>
            <a:r>
              <a:rPr lang="en-US" sz="4000" dirty="0" smtClean="0">
                <a:solidFill>
                  <a:srgbClr val="FF0000"/>
                </a:solidFill>
              </a:rPr>
              <a:t>np</a:t>
            </a:r>
            <a:endParaRPr lang="en-US" sz="4000" dirty="0">
              <a:solidFill>
                <a:srgbClr val="FF0000"/>
              </a:solidFill>
            </a:endParaRPr>
          </a:p>
          <a:p>
            <a:r>
              <a:rPr lang="en-US" sz="3600" dirty="0"/>
              <a:t>scores = np.array([80, 90, 75, 60, 95])</a:t>
            </a:r>
          </a:p>
          <a:p>
            <a:r>
              <a:rPr lang="en-US" sz="3600" dirty="0"/>
              <a:t>print("Mean:", np.mean(scores))</a:t>
            </a:r>
          </a:p>
          <a:p>
            <a:r>
              <a:rPr lang="en-US" sz="3600" dirty="0"/>
              <a:t>print("Max:", </a:t>
            </a:r>
            <a:r>
              <a:rPr lang="en-US" sz="3600" dirty="0" err="1"/>
              <a:t>np.max</a:t>
            </a:r>
            <a:r>
              <a:rPr lang="en-US" sz="3600" dirty="0"/>
              <a:t>(scores))</a:t>
            </a:r>
          </a:p>
          <a:p>
            <a:r>
              <a:rPr lang="en-US" sz="3600" dirty="0"/>
              <a:t>print("Min:", </a:t>
            </a:r>
            <a:r>
              <a:rPr lang="en-US" sz="3600" dirty="0" err="1"/>
              <a:t>np.min</a:t>
            </a:r>
            <a:r>
              <a:rPr lang="en-US" sz="3600" dirty="0"/>
              <a:t>(scores))</a:t>
            </a:r>
          </a:p>
          <a:p>
            <a:r>
              <a:rPr lang="en-US" sz="3600" dirty="0"/>
              <a:t>print("Sorted:", </a:t>
            </a:r>
            <a:r>
              <a:rPr lang="en-US" sz="3600" dirty="0" err="1"/>
              <a:t>np.sort</a:t>
            </a:r>
            <a:r>
              <a:rPr lang="en-US" sz="3600" dirty="0"/>
              <a:t>(scores</a:t>
            </a:r>
            <a:r>
              <a:rPr lang="en-US" sz="3600" dirty="0" smtClean="0"/>
              <a:t>))</a:t>
            </a:r>
            <a:r>
              <a:rPr lang="en-US" sz="4000" dirty="0" smtClean="0"/>
              <a:t>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835490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dirty="0"/>
              <a:t>Stacking and Splitting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Stacking means </a:t>
            </a:r>
            <a:r>
              <a:rPr lang="en-US" sz="2800" b="1" dirty="0"/>
              <a:t>joining multiple arrays</a:t>
            </a:r>
            <a:r>
              <a:rPr lang="en-US" sz="2800" dirty="0"/>
              <a:t> together — either </a:t>
            </a:r>
            <a:r>
              <a:rPr lang="en-US" sz="2800" b="1" dirty="0"/>
              <a:t>vertically</a:t>
            </a:r>
            <a:r>
              <a:rPr lang="en-US" sz="2800" dirty="0"/>
              <a:t> (on top of each other) or </a:t>
            </a:r>
            <a:r>
              <a:rPr lang="en-US" sz="2800" b="1" dirty="0"/>
              <a:t>horizontally</a:t>
            </a:r>
            <a:r>
              <a:rPr lang="en-US" sz="2800" dirty="0"/>
              <a:t> (side by side</a:t>
            </a:r>
            <a:r>
              <a:rPr lang="en-US" sz="2800" dirty="0" smtClean="0"/>
              <a:t>).</a:t>
            </a:r>
          </a:p>
          <a:p>
            <a:endParaRPr lang="en-US" dirty="0" smtClean="0"/>
          </a:p>
          <a:p>
            <a:r>
              <a:rPr lang="en-US" sz="4800" b="1" dirty="0" smtClean="0"/>
              <a:t>Three Types</a:t>
            </a:r>
          </a:p>
          <a:p>
            <a:r>
              <a:rPr lang="en-US" sz="3200" dirty="0" err="1"/>
              <a:t>n</a:t>
            </a:r>
            <a:r>
              <a:rPr lang="en-US" sz="3200" dirty="0" err="1" smtClean="0"/>
              <a:t>p.stack</a:t>
            </a:r>
            <a:r>
              <a:rPr lang="en-US" sz="3200" dirty="0"/>
              <a:t>() </a:t>
            </a:r>
            <a:r>
              <a:rPr lang="en-US" sz="3200" dirty="0" smtClean="0"/>
              <a:t>            stack </a:t>
            </a:r>
            <a:r>
              <a:rPr lang="en-US" sz="3200" dirty="0"/>
              <a:t>vertically (adds new rows)</a:t>
            </a:r>
            <a:endParaRPr lang="en-US" sz="3200" dirty="0" smtClean="0"/>
          </a:p>
          <a:p>
            <a:r>
              <a:rPr lang="en-US" sz="3200" dirty="0" err="1" smtClean="0"/>
              <a:t>np.hstack</a:t>
            </a:r>
            <a:r>
              <a:rPr lang="en-US" sz="3200" dirty="0"/>
              <a:t>() </a:t>
            </a:r>
            <a:r>
              <a:rPr lang="en-US" sz="3200" dirty="0" smtClean="0"/>
              <a:t>          stack </a:t>
            </a:r>
            <a:r>
              <a:rPr lang="en-US" sz="3200" dirty="0"/>
              <a:t>horizontally (adds new columns)</a:t>
            </a:r>
            <a:endParaRPr lang="en-US" sz="3200" dirty="0" smtClean="0"/>
          </a:p>
          <a:p>
            <a:r>
              <a:rPr lang="en-US" sz="3200" dirty="0" err="1"/>
              <a:t>n</a:t>
            </a:r>
            <a:r>
              <a:rPr lang="en-US" sz="3200" dirty="0" err="1" smtClean="0"/>
              <a:t>p.dstack</a:t>
            </a:r>
            <a:r>
              <a:rPr lang="en-US" sz="3200" dirty="0" smtClean="0"/>
              <a:t>()            stack </a:t>
            </a:r>
            <a:r>
              <a:rPr lang="en-US" sz="3200" dirty="0"/>
              <a:t>along depth (creates a 3D structure)</a:t>
            </a:r>
            <a:endParaRPr lang="en-US" sz="3200" dirty="0" smtClean="0"/>
          </a:p>
          <a:p>
            <a:endParaRPr lang="en-US" dirty="0"/>
          </a:p>
        </p:txBody>
      </p:sp>
      <p:sp>
        <p:nvSpPr>
          <p:cNvPr id="5" name="Right Arrow 4"/>
          <p:cNvSpPr/>
          <p:nvPr/>
        </p:nvSpPr>
        <p:spPr>
          <a:xfrm>
            <a:off x="3416300" y="5600700"/>
            <a:ext cx="406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/>
          <p:cNvSpPr/>
          <p:nvPr/>
        </p:nvSpPr>
        <p:spPr>
          <a:xfrm>
            <a:off x="3416300" y="4292600"/>
            <a:ext cx="406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3416300" y="4876800"/>
            <a:ext cx="406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451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b="1" dirty="0" smtClean="0"/>
              <a:t>Example</a:t>
            </a:r>
            <a:endParaRPr lang="en-US" sz="7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15366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a = np.array([1, 2])</a:t>
            </a:r>
          </a:p>
          <a:p>
            <a:r>
              <a:rPr lang="en-US" sz="2800" dirty="0"/>
              <a:t>b = np.array([3, 4</a:t>
            </a:r>
            <a:r>
              <a:rPr lang="en-US" sz="2800" dirty="0" smtClean="0"/>
              <a:t>])</a:t>
            </a:r>
            <a:endParaRPr lang="en-US" sz="2800" dirty="0"/>
          </a:p>
          <a:p>
            <a:r>
              <a:rPr lang="en-US" sz="2800" dirty="0">
                <a:solidFill>
                  <a:srgbClr val="FF0000"/>
                </a:solidFill>
              </a:rPr>
              <a:t>print</a:t>
            </a:r>
            <a:r>
              <a:rPr lang="en-US" sz="2800" dirty="0"/>
              <a:t>(</a:t>
            </a:r>
            <a:r>
              <a:rPr lang="en-US" sz="2800" dirty="0" err="1"/>
              <a:t>np.vstack</a:t>
            </a:r>
            <a:r>
              <a:rPr lang="en-US" sz="2800" dirty="0"/>
              <a:t>((a, b)))  # vertical</a:t>
            </a:r>
          </a:p>
          <a:p>
            <a:r>
              <a:rPr lang="en-US" sz="2800" dirty="0" smtClean="0">
                <a:solidFill>
                  <a:srgbClr val="00B050"/>
                </a:solidFill>
              </a:rPr>
              <a:t>print</a:t>
            </a:r>
            <a:r>
              <a:rPr lang="en-US" sz="2800" dirty="0" smtClean="0"/>
              <a:t>(</a:t>
            </a:r>
            <a:r>
              <a:rPr lang="en-US" sz="2800" dirty="0" err="1" smtClean="0"/>
              <a:t>np.hstack</a:t>
            </a:r>
            <a:r>
              <a:rPr lang="en-US" sz="2800" dirty="0"/>
              <a:t>((</a:t>
            </a:r>
            <a:r>
              <a:rPr lang="en-US" sz="2800" dirty="0" smtClean="0"/>
              <a:t>a, </a:t>
            </a:r>
            <a:r>
              <a:rPr lang="en-US" sz="2800" dirty="0"/>
              <a:t>b</a:t>
            </a:r>
            <a:r>
              <a:rPr lang="en-US" sz="2800" dirty="0" smtClean="0"/>
              <a:t>)))  </a:t>
            </a:r>
            <a:r>
              <a:rPr lang="en-US" sz="2800" dirty="0"/>
              <a:t># </a:t>
            </a:r>
            <a:r>
              <a:rPr lang="en-US" sz="2800" dirty="0" smtClean="0"/>
              <a:t>horizontal</a:t>
            </a:r>
          </a:p>
          <a:p>
            <a:r>
              <a:rPr lang="en-US" sz="3200" b="1" dirty="0" smtClean="0"/>
              <a:t>Output</a:t>
            </a:r>
            <a:endParaRPr lang="en-US" sz="2800" b="1" dirty="0" smtClean="0"/>
          </a:p>
          <a:p>
            <a:r>
              <a:rPr lang="en-US" sz="2800" dirty="0">
                <a:solidFill>
                  <a:srgbClr val="FF0000"/>
                </a:solidFill>
              </a:rPr>
              <a:t>[[1 2]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[3 4</a:t>
            </a:r>
            <a:r>
              <a:rPr lang="en-US" sz="2800" dirty="0" smtClean="0">
                <a:solidFill>
                  <a:srgbClr val="FF0000"/>
                </a:solidFill>
              </a:rPr>
              <a:t>]]</a:t>
            </a:r>
            <a:endParaRPr lang="en-US" sz="2800" dirty="0">
              <a:solidFill>
                <a:srgbClr val="FF0000"/>
              </a:solidFill>
            </a:endParaRPr>
          </a:p>
          <a:p>
            <a:r>
              <a:rPr lang="en-US" sz="2800" dirty="0">
                <a:solidFill>
                  <a:srgbClr val="00B050"/>
                </a:solidFill>
              </a:rPr>
              <a:t>[1 2 3 4</a:t>
            </a:r>
            <a:r>
              <a:rPr lang="en-US" sz="2800" dirty="0" smtClean="0">
                <a:solidFill>
                  <a:srgbClr val="00B050"/>
                </a:solidFill>
              </a:rPr>
              <a:t>] </a:t>
            </a:r>
            <a:endParaRPr lang="en-US" sz="28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877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/>
            </a:r>
            <a:br>
              <a:rPr lang="en-US" b="1" dirty="0" smtClean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/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 smtClean="0">
                <a:solidFill>
                  <a:srgbClr val="C00000"/>
                </a:solidFill>
              </a:rPr>
              <a:t/>
            </a:r>
            <a:br>
              <a:rPr lang="en-US" b="1" dirty="0" smtClean="0">
                <a:solidFill>
                  <a:srgbClr val="C00000"/>
                </a:solidFill>
              </a:rPr>
            </a:br>
            <a:r>
              <a:rPr lang="en-US" sz="8000" b="1" dirty="0" smtClean="0">
                <a:solidFill>
                  <a:srgbClr val="C00000"/>
                </a:solidFill>
              </a:rPr>
              <a:t>Output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800" dirty="0" smtClean="0">
                <a:solidFill>
                  <a:srgbClr val="7030A0"/>
                </a:solidFill>
              </a:rPr>
              <a:t>Mean</a:t>
            </a:r>
            <a:r>
              <a:rPr lang="en-US" sz="4800" dirty="0">
                <a:solidFill>
                  <a:srgbClr val="7030A0"/>
                </a:solidFill>
              </a:rPr>
              <a:t>: </a:t>
            </a:r>
            <a:r>
              <a:rPr lang="en-US" sz="4800" dirty="0" smtClean="0">
                <a:solidFill>
                  <a:srgbClr val="7030A0"/>
                </a:solidFill>
              </a:rPr>
              <a:t>80.0</a:t>
            </a:r>
          </a:p>
          <a:p>
            <a:pPr marL="0" indent="0">
              <a:buNone/>
            </a:pPr>
            <a:r>
              <a:rPr lang="en-US" sz="4800" dirty="0" smtClean="0">
                <a:solidFill>
                  <a:srgbClr val="7030A0"/>
                </a:solidFill>
              </a:rPr>
              <a:t>  Max: 95</a:t>
            </a:r>
          </a:p>
          <a:p>
            <a:r>
              <a:rPr lang="en-US" sz="4800" dirty="0" smtClean="0">
                <a:solidFill>
                  <a:srgbClr val="7030A0"/>
                </a:solidFill>
              </a:rPr>
              <a:t>Min</a:t>
            </a:r>
            <a:r>
              <a:rPr lang="en-US" sz="4800" dirty="0">
                <a:solidFill>
                  <a:srgbClr val="7030A0"/>
                </a:solidFill>
              </a:rPr>
              <a:t>: 60</a:t>
            </a:r>
          </a:p>
          <a:p>
            <a:r>
              <a:rPr lang="en-US" sz="4800" dirty="0" smtClean="0">
                <a:solidFill>
                  <a:srgbClr val="7030A0"/>
                </a:solidFill>
              </a:rPr>
              <a:t>Sorted</a:t>
            </a:r>
            <a:r>
              <a:rPr lang="en-US" sz="4800" dirty="0">
                <a:solidFill>
                  <a:srgbClr val="7030A0"/>
                </a:solidFill>
              </a:rPr>
              <a:t>: [60 75 80 90 95]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181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b="1" dirty="0"/>
              <a:t>Why </a:t>
            </a:r>
            <a:r>
              <a:rPr lang="en-US" sz="7200" b="1" dirty="0">
                <a:solidFill>
                  <a:srgbClr val="7030A0"/>
                </a:solidFill>
              </a:rPr>
              <a:t>NumPy </a:t>
            </a:r>
            <a:r>
              <a:rPr lang="en-US" sz="7200" b="1" dirty="0"/>
              <a:t>is Powerful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Much </a:t>
            </a:r>
            <a:r>
              <a:rPr lang="en-US" sz="3600" b="1" dirty="0"/>
              <a:t>faster</a:t>
            </a:r>
            <a:r>
              <a:rPr lang="en-US" sz="3600" dirty="0"/>
              <a:t> than </a:t>
            </a:r>
            <a:r>
              <a:rPr lang="en-US" sz="3600" dirty="0" smtClean="0"/>
              <a:t>lists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 smtClean="0"/>
              <a:t>Enables </a:t>
            </a:r>
            <a:r>
              <a:rPr lang="en-US" sz="3600" b="1" dirty="0" err="1"/>
              <a:t>vectorized</a:t>
            </a:r>
            <a:r>
              <a:rPr lang="en-US" sz="3600" b="1" dirty="0"/>
              <a:t> operations</a:t>
            </a:r>
            <a:r>
              <a:rPr lang="en-US" sz="3600" dirty="0"/>
              <a:t> (no need for </a:t>
            </a:r>
            <a:r>
              <a:rPr lang="en-US" sz="3600" dirty="0" smtClean="0"/>
              <a:t>loops)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 smtClean="0"/>
              <a:t>Forms </a:t>
            </a:r>
            <a:r>
              <a:rPr lang="en-US" sz="3600" dirty="0"/>
              <a:t>the </a:t>
            </a:r>
            <a:r>
              <a:rPr lang="en-US" sz="3600" b="1" dirty="0"/>
              <a:t>foundation</a:t>
            </a:r>
            <a:r>
              <a:rPr lang="en-US" sz="3600" dirty="0"/>
              <a:t> of libraries like Pandas, Matplotlib, and </a:t>
            </a:r>
            <a:r>
              <a:rPr lang="en-US" sz="3600" dirty="0" err="1" smtClean="0"/>
              <a:t>SciKit</a:t>
            </a:r>
            <a:r>
              <a:rPr lang="en-US" sz="3600" dirty="0" smtClean="0"/>
              <a:t>- Learn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228429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dirty="0"/>
              <a:t>Data Manipulation with </a:t>
            </a:r>
            <a:r>
              <a:rPr lang="en-US" sz="6600" b="1" dirty="0">
                <a:solidFill>
                  <a:srgbClr val="7030A0"/>
                </a:solidFill>
              </a:rPr>
              <a:t>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/>
              <a:t>Why Pandas</a:t>
            </a:r>
            <a:r>
              <a:rPr lang="en-US" sz="3200" b="1" dirty="0" smtClean="0"/>
              <a:t>?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Simplifies working with structured data (tables, CSVs, </a:t>
            </a:r>
            <a:r>
              <a:rPr lang="en-US" sz="3200" dirty="0" smtClean="0"/>
              <a:t>Excel)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 smtClean="0"/>
              <a:t>Built on </a:t>
            </a:r>
            <a:r>
              <a:rPr lang="en-US" sz="3200" dirty="0" smtClean="0">
                <a:solidFill>
                  <a:srgbClr val="7030A0"/>
                </a:solidFill>
              </a:rPr>
              <a:t>NumPy</a:t>
            </a:r>
            <a:r>
              <a:rPr lang="en-US" sz="3200" dirty="0" smtClean="0"/>
              <a:t> — optimized for performance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 smtClean="0"/>
              <a:t>Key </a:t>
            </a:r>
            <a:r>
              <a:rPr lang="en-US" sz="3200" dirty="0"/>
              <a:t>for data cleaning, transformation, and </a:t>
            </a:r>
            <a:r>
              <a:rPr lang="en-US" sz="3200" dirty="0" smtClean="0"/>
              <a:t>exploration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 smtClean="0"/>
              <a:t>Foundation </a:t>
            </a:r>
            <a:r>
              <a:rPr lang="en-US" sz="3200" dirty="0"/>
              <a:t>for Business Intelligence and data </a:t>
            </a:r>
            <a:r>
              <a:rPr lang="en-US" sz="3200" dirty="0" smtClean="0"/>
              <a:t>visualization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 smtClean="0">
                <a:solidFill>
                  <a:srgbClr val="7030A0"/>
                </a:solidFill>
              </a:rPr>
              <a:t>Pandas</a:t>
            </a:r>
            <a:r>
              <a:rPr lang="en-US" sz="3200" dirty="0" smtClean="0"/>
              <a:t> </a:t>
            </a:r>
            <a:r>
              <a:rPr lang="en-US" sz="3200" dirty="0"/>
              <a:t>= Excel + Python power.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179151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The Pandas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b="1" dirty="0"/>
              <a:t>Series</a:t>
            </a:r>
            <a:r>
              <a:rPr lang="en-US" sz="3200" dirty="0"/>
              <a:t> → </a:t>
            </a:r>
            <a:r>
              <a:rPr lang="en-US" sz="3200" dirty="0" smtClean="0"/>
              <a:t>One-dimensional </a:t>
            </a:r>
            <a:r>
              <a:rPr lang="en-US" sz="3200" dirty="0"/>
              <a:t>(like a list with labels</a:t>
            </a:r>
            <a:r>
              <a:rPr lang="en-US" sz="3200" dirty="0" smtClean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b="1" dirty="0"/>
              <a:t>DataFrame</a:t>
            </a:r>
            <a:r>
              <a:rPr lang="en-US" sz="3200" dirty="0"/>
              <a:t> </a:t>
            </a:r>
            <a:r>
              <a:rPr lang="en-US" sz="3200" dirty="0" smtClean="0"/>
              <a:t>→ Two-dimensional </a:t>
            </a:r>
            <a:r>
              <a:rPr lang="en-US" sz="3200" dirty="0"/>
              <a:t>(like an Excel sheet</a:t>
            </a:r>
            <a:r>
              <a:rPr lang="en-US" sz="3200" dirty="0" smtClean="0"/>
              <a:t>)</a:t>
            </a:r>
          </a:p>
          <a:p>
            <a:pPr marL="0" indent="0">
              <a:buNone/>
            </a:pPr>
            <a:r>
              <a:rPr lang="en-US" sz="3200" dirty="0" smtClean="0">
                <a:solidFill>
                  <a:srgbClr val="7030A0"/>
                </a:solidFill>
              </a:rPr>
              <a:t>Importing Pandas</a:t>
            </a:r>
          </a:p>
          <a:p>
            <a:pPr marL="0" indent="0">
              <a:buNone/>
            </a:pPr>
            <a:r>
              <a:rPr lang="en-US" sz="3200" dirty="0" smtClean="0">
                <a:solidFill>
                  <a:srgbClr val="FF0000"/>
                </a:solidFill>
              </a:rPr>
              <a:t> #import</a:t>
            </a:r>
            <a:r>
              <a:rPr lang="en-US" sz="3200" dirty="0" smtClean="0">
                <a:solidFill>
                  <a:schemeClr val="tx1"/>
                </a:solidFill>
              </a:rPr>
              <a:t> </a:t>
            </a:r>
            <a:r>
              <a:rPr lang="en-US" sz="3200" dirty="0">
                <a:solidFill>
                  <a:schemeClr val="tx1"/>
                </a:solidFill>
              </a:rPr>
              <a:t>pandas as </a:t>
            </a:r>
            <a:r>
              <a:rPr lang="en-US" sz="3200" dirty="0" err="1" smtClean="0">
                <a:solidFill>
                  <a:srgbClr val="FF0000"/>
                </a:solidFill>
              </a:rPr>
              <a:t>pd</a:t>
            </a:r>
            <a:endParaRPr lang="en-US" sz="32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397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97703"/>
            <a:ext cx="10058400" cy="1450757"/>
          </a:xfrm>
        </p:spPr>
        <p:txBody>
          <a:bodyPr/>
          <a:lstStyle/>
          <a:p>
            <a:r>
              <a:rPr lang="en-US" b="1" dirty="0" smtClean="0"/>
              <a:t>Series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50060"/>
            <a:ext cx="10058400" cy="479044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import</a:t>
            </a:r>
            <a:r>
              <a:rPr lang="en-US" sz="2800" dirty="0"/>
              <a:t> pandas as </a:t>
            </a:r>
            <a:r>
              <a:rPr lang="en-US" sz="2800" dirty="0" err="1" smtClean="0">
                <a:solidFill>
                  <a:srgbClr val="FF0000"/>
                </a:solidFill>
              </a:rPr>
              <a:t>pd</a:t>
            </a:r>
            <a:endParaRPr lang="en-US" sz="2800" dirty="0"/>
          </a:p>
          <a:p>
            <a:r>
              <a:rPr lang="en-US" sz="2800" dirty="0"/>
              <a:t>scores = </a:t>
            </a:r>
            <a:r>
              <a:rPr lang="en-US" sz="2800" dirty="0" err="1">
                <a:solidFill>
                  <a:srgbClr val="FF0000"/>
                </a:solidFill>
              </a:rPr>
              <a:t>pd</a:t>
            </a:r>
            <a:r>
              <a:rPr lang="en-US" sz="2800" dirty="0" err="1"/>
              <a:t>.</a:t>
            </a:r>
            <a:r>
              <a:rPr lang="en-US" sz="2800" b="1" dirty="0" err="1">
                <a:solidFill>
                  <a:srgbClr val="7030A0"/>
                </a:solidFill>
              </a:rPr>
              <a:t>Series</a:t>
            </a:r>
            <a:r>
              <a:rPr lang="en-US" sz="2800" dirty="0"/>
              <a:t>([85, 90, 78, 92], index=["John", "Mary", "Sam", "Lydia"])</a:t>
            </a:r>
          </a:p>
          <a:p>
            <a:r>
              <a:rPr lang="en-US" sz="2800" dirty="0">
                <a:solidFill>
                  <a:srgbClr val="FF0000"/>
                </a:solidFill>
              </a:rPr>
              <a:t>prin</a:t>
            </a:r>
            <a:r>
              <a:rPr lang="en-US" sz="2800" dirty="0"/>
              <a:t>t(scores</a:t>
            </a:r>
            <a:r>
              <a:rPr lang="en-US" sz="2800" dirty="0" smtClean="0"/>
              <a:t>)</a:t>
            </a:r>
          </a:p>
          <a:p>
            <a:r>
              <a:rPr lang="en-US" sz="3500" b="1" dirty="0"/>
              <a:t>Output</a:t>
            </a:r>
            <a:r>
              <a:rPr lang="en-US" sz="3500" b="1" dirty="0" smtClean="0"/>
              <a:t>:</a:t>
            </a:r>
          </a:p>
          <a:p>
            <a:r>
              <a:rPr lang="en-US" sz="2800" dirty="0" smtClean="0"/>
              <a:t>John     </a:t>
            </a:r>
            <a:r>
              <a:rPr lang="en-US" sz="2800" dirty="0"/>
              <a:t>85</a:t>
            </a:r>
          </a:p>
          <a:p>
            <a:r>
              <a:rPr lang="en-US" sz="2800" dirty="0"/>
              <a:t>Mary     90</a:t>
            </a:r>
          </a:p>
          <a:p>
            <a:r>
              <a:rPr lang="en-US" sz="2800" dirty="0"/>
              <a:t>Sam      78</a:t>
            </a:r>
          </a:p>
          <a:p>
            <a:r>
              <a:rPr lang="en-US" sz="2800" dirty="0"/>
              <a:t>Lydia    92   </a:t>
            </a:r>
            <a:r>
              <a:rPr lang="en-US" sz="2800" dirty="0" smtClean="0"/>
              <a:t>,         </a:t>
            </a:r>
            <a:r>
              <a:rPr lang="en-US" sz="2800" dirty="0" err="1" smtClean="0"/>
              <a:t>dtype</a:t>
            </a:r>
            <a:r>
              <a:rPr lang="en-US" sz="2800" dirty="0"/>
              <a:t>: </a:t>
            </a:r>
            <a:r>
              <a:rPr lang="en-US" sz="2800" dirty="0" smtClean="0"/>
              <a:t>int64</a:t>
            </a:r>
            <a:endParaRPr lang="en-US" sz="2800" dirty="0"/>
          </a:p>
          <a:p>
            <a:r>
              <a:rPr lang="en-US" sz="2400" dirty="0" smtClean="0"/>
              <a:t>Think </a:t>
            </a:r>
            <a:r>
              <a:rPr lang="en-US" sz="2400" dirty="0"/>
              <a:t>of it like an Excel column with names as row labels.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07901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Pandas DataFrame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542366"/>
          </a:xfrm>
        </p:spPr>
        <p:txBody>
          <a:bodyPr>
            <a:noAutofit/>
          </a:bodyPr>
          <a:lstStyle/>
          <a:p>
            <a:r>
              <a:rPr lang="en-US" sz="2800" dirty="0"/>
              <a:t>A DataFrame is like a table — multiple columns with labels.</a:t>
            </a:r>
          </a:p>
          <a:p>
            <a:r>
              <a:rPr lang="en-US" dirty="0" err="1"/>
              <a:t>Eg</a:t>
            </a:r>
            <a:r>
              <a:rPr lang="en-US" dirty="0"/>
              <a:t>.</a:t>
            </a:r>
          </a:p>
          <a:p>
            <a:r>
              <a:rPr lang="en-US" dirty="0"/>
              <a:t>  </a:t>
            </a:r>
            <a:r>
              <a:rPr lang="en-US" sz="2400" dirty="0"/>
              <a:t>data = {</a:t>
            </a:r>
          </a:p>
          <a:p>
            <a:r>
              <a:rPr lang="en-US" sz="2400" dirty="0"/>
              <a:t>    "Name": ["John", "Mary", "Sam"],</a:t>
            </a:r>
          </a:p>
          <a:p>
            <a:r>
              <a:rPr lang="en-US" sz="2400" dirty="0"/>
              <a:t>    "Age": [21, 22, 20],</a:t>
            </a:r>
          </a:p>
          <a:p>
            <a:r>
              <a:rPr lang="en-US" sz="2400" dirty="0"/>
              <a:t>    "Score": [85, 90, 78]</a:t>
            </a:r>
          </a:p>
          <a:p>
            <a:r>
              <a:rPr lang="en-US" sz="2400" dirty="0" smtClean="0"/>
              <a:t>}</a:t>
            </a:r>
            <a:endParaRPr lang="en-US" dirty="0"/>
          </a:p>
          <a:p>
            <a:r>
              <a:rPr lang="en-US" sz="2800" dirty="0"/>
              <a:t>df = pd.DataFrame(data)</a:t>
            </a:r>
          </a:p>
          <a:p>
            <a:r>
              <a:rPr lang="en-US" sz="2800" dirty="0"/>
              <a:t>print(</a:t>
            </a:r>
            <a:r>
              <a:rPr lang="en-US" sz="2800" dirty="0" err="1"/>
              <a:t>df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20609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1400" y="2043331"/>
            <a:ext cx="10058400" cy="4023360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sz="2800" dirty="0"/>
              <a:t>Name  Age  Score</a:t>
            </a:r>
          </a:p>
          <a:p>
            <a:r>
              <a:rPr lang="en-US" sz="2800" dirty="0"/>
              <a:t>0  John   21     85</a:t>
            </a:r>
          </a:p>
          <a:p>
            <a:r>
              <a:rPr lang="en-US" sz="2800" dirty="0"/>
              <a:t>1  Mary   22     90</a:t>
            </a:r>
          </a:p>
          <a:p>
            <a:r>
              <a:rPr lang="en-US" sz="2800" dirty="0"/>
              <a:t>2   Sam   20     </a:t>
            </a:r>
            <a:r>
              <a:rPr lang="en-US" sz="2800" dirty="0" smtClean="0"/>
              <a:t>78</a:t>
            </a:r>
          </a:p>
          <a:p>
            <a:endParaRPr lang="en-US" sz="2800" dirty="0"/>
          </a:p>
          <a:p>
            <a:r>
              <a:rPr lang="en-US" sz="2800" dirty="0"/>
              <a:t>The rows are automatically indexed from 0, 1, 2... unless you specify otherwise.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400" y="1079500"/>
            <a:ext cx="1563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Output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885879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Pandas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df.head</a:t>
            </a:r>
            <a:r>
              <a:rPr lang="en-US" sz="3200" dirty="0"/>
              <a:t>()       # First 5 rows</a:t>
            </a:r>
          </a:p>
          <a:p>
            <a:r>
              <a:rPr lang="en-US" sz="3200" dirty="0" err="1"/>
              <a:t>df.tail</a:t>
            </a:r>
            <a:r>
              <a:rPr lang="en-US" sz="3200" dirty="0"/>
              <a:t>()       # Last 5 rows</a:t>
            </a:r>
          </a:p>
          <a:p>
            <a:r>
              <a:rPr lang="en-US" sz="3200" dirty="0"/>
              <a:t>df.info()       # Summary of columns</a:t>
            </a:r>
          </a:p>
          <a:p>
            <a:r>
              <a:rPr lang="en-US" sz="3200" dirty="0" err="1"/>
              <a:t>df.describe</a:t>
            </a:r>
            <a:r>
              <a:rPr lang="en-US" sz="3200" dirty="0"/>
              <a:t>()   # Statistical summary (mean, </a:t>
            </a:r>
            <a:r>
              <a:rPr lang="en-US" sz="3200" dirty="0" err="1"/>
              <a:t>std</a:t>
            </a:r>
            <a:r>
              <a:rPr lang="en-US" sz="3200" dirty="0"/>
              <a:t>, etc.)</a:t>
            </a:r>
          </a:p>
          <a:p>
            <a:r>
              <a:rPr lang="en-US" sz="3200" dirty="0" err="1"/>
              <a:t>df.shape</a:t>
            </a:r>
            <a:r>
              <a:rPr lang="en-US" sz="3200" dirty="0"/>
              <a:t>        # (rows, columns)</a:t>
            </a:r>
          </a:p>
        </p:txBody>
      </p:sp>
    </p:spTree>
    <p:extLst>
      <p:ext uri="{BB962C8B-B14F-4D97-AF65-F5344CB8AC3E}">
        <p14:creationId xmlns:p14="http://schemas.microsoft.com/office/powerpoint/2010/main" val="7737227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800" b="1" dirty="0"/>
              <a:t>Accessing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dirty="0"/>
              <a:t>df["Name"]               # Access one column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df[["Name", "Score"]]    # Access multiple columns</a:t>
            </a:r>
          </a:p>
          <a:p>
            <a:pPr>
              <a:lnSpc>
                <a:spcPct val="150000"/>
              </a:lnSpc>
            </a:pPr>
            <a:r>
              <a:rPr lang="en-US" sz="3600" dirty="0" err="1"/>
              <a:t>df.loc</a:t>
            </a:r>
            <a:r>
              <a:rPr lang="en-US" sz="3600" dirty="0"/>
              <a:t>[1]                # Access by label (index)</a:t>
            </a:r>
          </a:p>
          <a:p>
            <a:pPr>
              <a:lnSpc>
                <a:spcPct val="150000"/>
              </a:lnSpc>
            </a:pPr>
            <a:r>
              <a:rPr lang="en-US" sz="3600" dirty="0" err="1"/>
              <a:t>df.iloc</a:t>
            </a:r>
            <a:r>
              <a:rPr lang="en-US" sz="3600" dirty="0"/>
              <a:t>[0]               # Access by position</a:t>
            </a:r>
          </a:p>
        </p:txBody>
      </p:sp>
    </p:spTree>
    <p:extLst>
      <p:ext uri="{BB962C8B-B14F-4D97-AF65-F5344CB8AC3E}">
        <p14:creationId xmlns:p14="http://schemas.microsoft.com/office/powerpoint/2010/main" val="26824426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Adding or Modifying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df["Grade"] = ["B", "A", "C"]  # Add new column</a:t>
            </a:r>
          </a:p>
          <a:p>
            <a:r>
              <a:rPr lang="en-US" dirty="0"/>
              <a:t>df["Age"] = df["Age"] + 1      # Update </a:t>
            </a:r>
            <a:r>
              <a:rPr lang="en-US" dirty="0" smtClean="0"/>
              <a:t>values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sz="4000" b="1" dirty="0"/>
              <a:t>Removing Columns or </a:t>
            </a:r>
            <a:r>
              <a:rPr lang="en-US" sz="4000" b="1" dirty="0" smtClean="0"/>
              <a:t>Rows</a:t>
            </a:r>
          </a:p>
          <a:p>
            <a:r>
              <a:rPr lang="en-US" sz="3200" dirty="0" err="1"/>
              <a:t>df.drop</a:t>
            </a:r>
            <a:r>
              <a:rPr lang="en-US" sz="3200" dirty="0"/>
              <a:t>("Age", axis=1, </a:t>
            </a:r>
            <a:r>
              <a:rPr lang="en-US" sz="3200" dirty="0" err="1"/>
              <a:t>inplace</a:t>
            </a:r>
            <a:r>
              <a:rPr lang="en-US" sz="3200" dirty="0"/>
              <a:t>=True)   # Drop a column</a:t>
            </a:r>
          </a:p>
          <a:p>
            <a:r>
              <a:rPr lang="en-US" sz="3200" dirty="0" err="1"/>
              <a:t>df.drop</a:t>
            </a:r>
            <a:r>
              <a:rPr lang="en-US" sz="3200" dirty="0"/>
              <a:t>(0, axis=0, </a:t>
            </a:r>
            <a:r>
              <a:rPr lang="en-US" sz="3200" dirty="0" err="1"/>
              <a:t>inplace</a:t>
            </a:r>
            <a:r>
              <a:rPr lang="en-US" sz="3200" dirty="0"/>
              <a:t>=True)       # Drop first row</a:t>
            </a:r>
          </a:p>
        </p:txBody>
      </p:sp>
    </p:spTree>
    <p:extLst>
      <p:ext uri="{BB962C8B-B14F-4D97-AF65-F5344CB8AC3E}">
        <p14:creationId xmlns:p14="http://schemas.microsoft.com/office/powerpoint/2010/main" val="6875642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Filtering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passed = </a:t>
            </a:r>
            <a:r>
              <a:rPr lang="en-US" sz="3200" dirty="0" err="1"/>
              <a:t>df</a:t>
            </a:r>
            <a:r>
              <a:rPr lang="en-US" sz="3200" dirty="0"/>
              <a:t>[</a:t>
            </a:r>
            <a:r>
              <a:rPr lang="en-US" sz="3200" dirty="0" err="1"/>
              <a:t>df</a:t>
            </a:r>
            <a:r>
              <a:rPr lang="en-US" sz="3200" dirty="0"/>
              <a:t>["Score"] &gt;= 80]</a:t>
            </a:r>
          </a:p>
          <a:p>
            <a:r>
              <a:rPr lang="en-US" sz="3200" dirty="0"/>
              <a:t>print(passed</a:t>
            </a:r>
            <a:r>
              <a:rPr lang="en-US" sz="3200" dirty="0" smtClean="0"/>
              <a:t>)</a:t>
            </a:r>
          </a:p>
          <a:p>
            <a:endParaRPr lang="en-US" dirty="0"/>
          </a:p>
          <a:p>
            <a:r>
              <a:rPr lang="en-US" sz="3600" b="1" dirty="0" smtClean="0"/>
              <a:t>Output:</a:t>
            </a:r>
          </a:p>
          <a:p>
            <a:r>
              <a:rPr lang="en-US" sz="3600" b="1" dirty="0"/>
              <a:t> </a:t>
            </a:r>
            <a:r>
              <a:rPr lang="en-US" sz="3600" dirty="0"/>
              <a:t>Name  Age  Score Grade</a:t>
            </a:r>
          </a:p>
          <a:p>
            <a:r>
              <a:rPr lang="en-US" sz="3600" dirty="0"/>
              <a:t>1  Mary   23     90     A</a:t>
            </a:r>
          </a:p>
        </p:txBody>
      </p:sp>
    </p:spTree>
    <p:extLst>
      <p:ext uri="{BB962C8B-B14F-4D97-AF65-F5344CB8AC3E}">
        <p14:creationId xmlns:p14="http://schemas.microsoft.com/office/powerpoint/2010/main" val="25265171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-551597"/>
            <a:ext cx="10058400" cy="1450757"/>
          </a:xfrm>
        </p:spPr>
        <p:txBody>
          <a:bodyPr/>
          <a:lstStyle/>
          <a:p>
            <a:r>
              <a:rPr lang="en-US" dirty="0"/>
              <a:t>Sorting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080" y="899160"/>
            <a:ext cx="10058400" cy="5753100"/>
          </a:xfrm>
        </p:spPr>
        <p:txBody>
          <a:bodyPr>
            <a:normAutofit/>
          </a:bodyPr>
          <a:lstStyle/>
          <a:p>
            <a:r>
              <a:rPr lang="en-US" sz="3000" dirty="0" err="1"/>
              <a:t>df.sort_values</a:t>
            </a:r>
            <a:r>
              <a:rPr lang="en-US" sz="3000" dirty="0"/>
              <a:t>(by="Score", </a:t>
            </a:r>
            <a:r>
              <a:rPr lang="en-US" sz="3000" dirty="0" smtClean="0"/>
              <a:t>ascending=False)</a:t>
            </a:r>
            <a:endParaRPr lang="en-US" sz="900" dirty="0" smtClean="0"/>
          </a:p>
          <a:p>
            <a:r>
              <a:rPr lang="en-US" sz="3200" b="1" dirty="0" smtClean="0"/>
              <a:t>Grouping </a:t>
            </a:r>
            <a:r>
              <a:rPr lang="en-US" sz="3200" b="1" dirty="0"/>
              <a:t>and </a:t>
            </a:r>
            <a:r>
              <a:rPr lang="en-US" sz="3200" b="1" dirty="0" smtClean="0"/>
              <a:t>Aggregation</a:t>
            </a:r>
          </a:p>
          <a:p>
            <a:r>
              <a:rPr lang="en-US" sz="3200" dirty="0"/>
              <a:t>data = {</a:t>
            </a:r>
          </a:p>
          <a:p>
            <a:r>
              <a:rPr lang="en-US" sz="3200" dirty="0"/>
              <a:t>    "Department": ["ICT", "Math", "ICT", "Math"],</a:t>
            </a:r>
          </a:p>
          <a:p>
            <a:r>
              <a:rPr lang="en-US" sz="3200" dirty="0"/>
              <a:t>    "Score": [85, 78, 90, 88]</a:t>
            </a:r>
          </a:p>
          <a:p>
            <a:r>
              <a:rPr lang="en-US" sz="3200" dirty="0"/>
              <a:t>}</a:t>
            </a:r>
          </a:p>
          <a:p>
            <a:r>
              <a:rPr lang="en-US" sz="3200" dirty="0"/>
              <a:t>df = pd.DataFrame(data)</a:t>
            </a:r>
          </a:p>
          <a:p>
            <a:endParaRPr lang="en-US" sz="3200" dirty="0"/>
          </a:p>
          <a:p>
            <a:r>
              <a:rPr lang="en-US" sz="3200" dirty="0"/>
              <a:t>print(</a:t>
            </a:r>
            <a:r>
              <a:rPr lang="en-US" sz="3200" dirty="0" err="1"/>
              <a:t>df.groupby</a:t>
            </a:r>
            <a:r>
              <a:rPr lang="en-US" sz="3200" dirty="0"/>
              <a:t>("Department")["Score"].mean())</a:t>
            </a:r>
          </a:p>
        </p:txBody>
      </p:sp>
    </p:spTree>
    <p:extLst>
      <p:ext uri="{BB962C8B-B14F-4D97-AF65-F5344CB8AC3E}">
        <p14:creationId xmlns:p14="http://schemas.microsoft.com/office/powerpoint/2010/main" val="15965482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 smtClean="0"/>
              <a:t>Output</a:t>
            </a:r>
            <a:endParaRPr lang="en-US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Department</a:t>
            </a:r>
          </a:p>
          <a:p>
            <a:r>
              <a:rPr lang="en-US" sz="3600" dirty="0"/>
              <a:t>ICT     87.5</a:t>
            </a:r>
          </a:p>
          <a:p>
            <a:r>
              <a:rPr lang="en-US" sz="3600" dirty="0"/>
              <a:t>Math    83.0</a:t>
            </a:r>
          </a:p>
          <a:p>
            <a:r>
              <a:rPr lang="en-US" sz="3600" dirty="0"/>
              <a:t>Name: Score, </a:t>
            </a:r>
            <a:r>
              <a:rPr lang="en-US" sz="3600" dirty="0" err="1"/>
              <a:t>dtype</a:t>
            </a:r>
            <a:r>
              <a:rPr lang="en-US" sz="3600" dirty="0"/>
              <a:t>: </a:t>
            </a:r>
            <a:r>
              <a:rPr lang="en-US" sz="3600" dirty="0" smtClean="0"/>
              <a:t>float64</a:t>
            </a:r>
          </a:p>
          <a:p>
            <a:endParaRPr lang="en-US" sz="3600" dirty="0"/>
          </a:p>
          <a:p>
            <a:r>
              <a:rPr lang="en-US" sz="3600" dirty="0" err="1" smtClean="0">
                <a:solidFill>
                  <a:srgbClr val="FF0000"/>
                </a:solidFill>
              </a:rPr>
              <a:t>groupby</a:t>
            </a:r>
            <a:r>
              <a:rPr lang="en-US" sz="3600" dirty="0"/>
              <a:t>() is perfect for analyzing categories.</a:t>
            </a:r>
          </a:p>
        </p:txBody>
      </p:sp>
    </p:spTree>
    <p:extLst>
      <p:ext uri="{BB962C8B-B14F-4D97-AF65-F5344CB8AC3E}">
        <p14:creationId xmlns:p14="http://schemas.microsoft.com/office/powerpoint/2010/main" val="593758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6600" b="1" dirty="0"/>
              <a:t>Reading and Writing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2806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/>
              <a:t>Read files</a:t>
            </a:r>
            <a:r>
              <a:rPr lang="en-US" sz="4800" b="1" dirty="0" smtClean="0"/>
              <a:t>: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df = pd.read_csv("students.csv")      # Read CSV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df = pd.read_excel("students.xlsx")   # Read </a:t>
            </a:r>
            <a:r>
              <a:rPr lang="en-US" sz="3200" dirty="0" smtClean="0"/>
              <a:t>Excel</a:t>
            </a:r>
          </a:p>
          <a:p>
            <a:pPr>
              <a:lnSpc>
                <a:spcPct val="100000"/>
              </a:lnSpc>
            </a:pPr>
            <a:r>
              <a:rPr lang="en-US" sz="4300" b="1" dirty="0"/>
              <a:t>Write </a:t>
            </a:r>
            <a:r>
              <a:rPr lang="en-US" sz="4300" b="1" dirty="0" smtClean="0"/>
              <a:t>files:</a:t>
            </a:r>
            <a:endParaRPr lang="en-US" sz="3200" b="1" dirty="0" smtClean="0"/>
          </a:p>
          <a:p>
            <a:pPr>
              <a:lnSpc>
                <a:spcPct val="100000"/>
              </a:lnSpc>
            </a:pPr>
            <a:r>
              <a:rPr lang="en-US" sz="3200" dirty="0"/>
              <a:t>df.to_csv("output.csv", index=False)   # Save as CSV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df.to_excel("output.xlsx", index=False)  # Save as Excel</a:t>
            </a:r>
          </a:p>
        </p:txBody>
      </p:sp>
    </p:spTree>
    <p:extLst>
      <p:ext uri="{BB962C8B-B14F-4D97-AF65-F5344CB8AC3E}">
        <p14:creationId xmlns:p14="http://schemas.microsoft.com/office/powerpoint/2010/main" val="41271024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Example: </a:t>
            </a:r>
            <a:r>
              <a:rPr lang="en-US" sz="6000" i="1" dirty="0"/>
              <a:t>Full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66166"/>
          </a:xfrm>
        </p:spPr>
        <p:txBody>
          <a:bodyPr>
            <a:normAutofit/>
          </a:bodyPr>
          <a:lstStyle/>
          <a:p>
            <a:r>
              <a:rPr lang="en-US" dirty="0"/>
              <a:t>import pandas as </a:t>
            </a:r>
            <a:r>
              <a:rPr lang="en-US" dirty="0" err="1" smtClean="0"/>
              <a:t>pd</a:t>
            </a:r>
            <a:endParaRPr lang="en-US" dirty="0"/>
          </a:p>
          <a:p>
            <a:r>
              <a:rPr lang="en-US" dirty="0"/>
              <a:t>data = {</a:t>
            </a:r>
          </a:p>
          <a:p>
            <a:r>
              <a:rPr lang="en-US" dirty="0"/>
              <a:t>    "Name": ["Inusah", "Adelga", "Iddrisu"],</a:t>
            </a:r>
          </a:p>
          <a:p>
            <a:r>
              <a:rPr lang="en-US" dirty="0"/>
              <a:t>    "Course": ["ICT", "ICT", "Math"],</a:t>
            </a:r>
          </a:p>
          <a:p>
            <a:r>
              <a:rPr lang="en-US" dirty="0"/>
              <a:t>    "Score": [88, 92, 75]</a:t>
            </a:r>
          </a:p>
          <a:p>
            <a:r>
              <a:rPr lang="en-US" dirty="0" smtClean="0"/>
              <a:t>}</a:t>
            </a:r>
            <a:endParaRPr lang="en-US" dirty="0"/>
          </a:p>
          <a:p>
            <a:r>
              <a:rPr lang="en-US" dirty="0"/>
              <a:t>df = pd.DataFrame(data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/>
              <a:t>print("Mean Score:", df["Score"].mean())</a:t>
            </a:r>
          </a:p>
          <a:p>
            <a:r>
              <a:rPr lang="en-US" dirty="0"/>
              <a:t>print("Sorted by Score:")</a:t>
            </a:r>
          </a:p>
          <a:p>
            <a:r>
              <a:rPr lang="en-US" dirty="0"/>
              <a:t>print(</a:t>
            </a:r>
            <a:r>
              <a:rPr lang="en-US" dirty="0" err="1"/>
              <a:t>df.sort_values</a:t>
            </a:r>
            <a:r>
              <a:rPr lang="en-US" dirty="0"/>
              <a:t>(by="Score", ascending=False))</a:t>
            </a:r>
          </a:p>
        </p:txBody>
      </p:sp>
    </p:spTree>
    <p:extLst>
      <p:ext uri="{BB962C8B-B14F-4D97-AF65-F5344CB8AC3E}">
        <p14:creationId xmlns:p14="http://schemas.microsoft.com/office/powerpoint/2010/main" val="19919749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 smtClean="0"/>
              <a:t>Output:</a:t>
            </a:r>
            <a:endParaRPr lang="en-US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Mean Score: 85.0</a:t>
            </a:r>
          </a:p>
          <a:p>
            <a:r>
              <a:rPr lang="en-US" sz="3200" dirty="0"/>
              <a:t>Sorted by Score:</a:t>
            </a:r>
          </a:p>
          <a:p>
            <a:r>
              <a:rPr lang="en-US" sz="3200" dirty="0"/>
              <a:t>      Name Course  Score</a:t>
            </a:r>
          </a:p>
          <a:p>
            <a:r>
              <a:rPr lang="en-US" sz="3200" dirty="0"/>
              <a:t>1   Adelga    ICT     92</a:t>
            </a:r>
          </a:p>
          <a:p>
            <a:r>
              <a:rPr lang="en-US" sz="3200" dirty="0"/>
              <a:t>0   Inusah    ICT     88</a:t>
            </a:r>
          </a:p>
          <a:p>
            <a:r>
              <a:rPr lang="en-US" sz="3200" dirty="0"/>
              <a:t>2  Iddrisu   Math     75</a:t>
            </a:r>
          </a:p>
        </p:txBody>
      </p:sp>
    </p:spTree>
    <p:extLst>
      <p:ext uri="{BB962C8B-B14F-4D97-AF65-F5344CB8AC3E}">
        <p14:creationId xmlns:p14="http://schemas.microsoft.com/office/powerpoint/2010/main" val="22078046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Why Pandas is Powerful</a:t>
            </a:r>
            <a:endParaRPr lang="en-US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Reads data from many formats (CSV, Excel, SQL, </a:t>
            </a:r>
            <a:r>
              <a:rPr lang="en-US" sz="3200" dirty="0" smtClean="0"/>
              <a:t>JSON)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 smtClean="0"/>
              <a:t>Cleans </a:t>
            </a:r>
            <a:r>
              <a:rPr lang="en-US" sz="3200" dirty="0"/>
              <a:t>and filters data </a:t>
            </a:r>
            <a:r>
              <a:rPr lang="en-US" sz="3200" dirty="0" smtClean="0"/>
              <a:t>easily</a:t>
            </a:r>
            <a:endParaRPr lang="en-US" sz="32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 smtClean="0"/>
              <a:t>Supports </a:t>
            </a:r>
            <a:r>
              <a:rPr lang="en-US" sz="3200" dirty="0"/>
              <a:t>advanced grouping and </a:t>
            </a:r>
            <a:r>
              <a:rPr lang="en-US" sz="3200" dirty="0" smtClean="0"/>
              <a:t>analysis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 smtClean="0"/>
              <a:t>Works </a:t>
            </a:r>
            <a:r>
              <a:rPr lang="en-US" sz="3200" dirty="0"/>
              <a:t>seamlessly with NumPy and Matplotlib</a:t>
            </a:r>
          </a:p>
          <a:p>
            <a:pPr>
              <a:lnSpc>
                <a:spcPct val="150000"/>
              </a:lnSpc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503275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 b="1" dirty="0"/>
              <a:t>Matplotlib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60220"/>
            <a:ext cx="10058400" cy="449156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Matplotlib</a:t>
            </a:r>
            <a:r>
              <a:rPr lang="en-US" sz="2800" dirty="0"/>
              <a:t> is a Python library used to </a:t>
            </a:r>
            <a:r>
              <a:rPr lang="en-US" sz="2800" b="1" dirty="0"/>
              <a:t>visualize data</a:t>
            </a:r>
            <a:r>
              <a:rPr lang="en-US" sz="2800" dirty="0"/>
              <a:t> through </a:t>
            </a:r>
            <a:r>
              <a:rPr lang="en-US" sz="2800" b="1" dirty="0"/>
              <a:t>graphs and charts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It helps you </a:t>
            </a:r>
            <a:r>
              <a:rPr lang="en-US" sz="2800" b="1" dirty="0"/>
              <a:t>see trends, patterns, and comparisons</a:t>
            </a:r>
            <a:r>
              <a:rPr lang="en-US" sz="2800" dirty="0"/>
              <a:t> that are hard to notice in raw numbers</a:t>
            </a:r>
            <a:r>
              <a:rPr lang="en-US" sz="2800" dirty="0" smtClean="0"/>
              <a:t>.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Usually, we import it like this</a:t>
            </a:r>
            <a:r>
              <a:rPr lang="en-US" sz="2800" dirty="0" smtClean="0"/>
              <a:t>: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FF0000"/>
                </a:solidFill>
              </a:rPr>
              <a:t>import</a:t>
            </a:r>
            <a:r>
              <a:rPr lang="en-US" sz="3600" dirty="0"/>
              <a:t> matplotlib.pyplot as </a:t>
            </a:r>
            <a:r>
              <a:rPr lang="en-US" sz="3600" dirty="0" err="1">
                <a:solidFill>
                  <a:srgbClr val="FF0000"/>
                </a:solidFill>
              </a:rPr>
              <a:t>plt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038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dirty="0"/>
              <a:t>Basic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512064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import</a:t>
            </a:r>
            <a:r>
              <a:rPr lang="en-US" sz="3200" dirty="0"/>
              <a:t> matplotlib.pyplot as </a:t>
            </a:r>
            <a:r>
              <a:rPr lang="en-US" sz="3200" dirty="0" err="1" smtClean="0">
                <a:solidFill>
                  <a:srgbClr val="FF0000"/>
                </a:solidFill>
              </a:rPr>
              <a:t>plt</a:t>
            </a:r>
            <a:endParaRPr lang="en-US" sz="3200" dirty="0">
              <a:solidFill>
                <a:srgbClr val="FF0000"/>
              </a:solidFill>
            </a:endParaRPr>
          </a:p>
          <a:p>
            <a:r>
              <a:rPr lang="en-US" sz="2400" dirty="0"/>
              <a:t>x = [1, 2, 3, 4, 5]</a:t>
            </a:r>
          </a:p>
          <a:p>
            <a:r>
              <a:rPr lang="en-US" sz="2400" dirty="0"/>
              <a:t>y = [10, 20, 25, 30, 35</a:t>
            </a:r>
            <a:r>
              <a:rPr lang="en-US" sz="2400" dirty="0" smtClean="0"/>
              <a:t>]</a:t>
            </a:r>
            <a:endParaRPr lang="en-US" sz="2400" dirty="0"/>
          </a:p>
          <a:p>
            <a:r>
              <a:rPr lang="en-US" sz="2400" dirty="0"/>
              <a:t>plt.plot(x, y)</a:t>
            </a:r>
          </a:p>
          <a:p>
            <a:r>
              <a:rPr lang="en-US" sz="2400" dirty="0"/>
              <a:t>plt.title("Simple Line Plot")</a:t>
            </a:r>
          </a:p>
          <a:p>
            <a:r>
              <a:rPr lang="en-US" sz="2400" dirty="0"/>
              <a:t>plt.xlabel("X-axis")</a:t>
            </a:r>
          </a:p>
          <a:p>
            <a:r>
              <a:rPr lang="en-US" sz="2400" dirty="0"/>
              <a:t>plt.ylabel("Y-axis")</a:t>
            </a:r>
          </a:p>
          <a:p>
            <a:r>
              <a:rPr lang="en-US" sz="2400" dirty="0"/>
              <a:t>plt.show</a:t>
            </a:r>
            <a:r>
              <a:rPr lang="en-US" sz="2400" dirty="0" smtClean="0"/>
              <a:t>()</a:t>
            </a:r>
          </a:p>
          <a:p>
            <a:r>
              <a:rPr lang="en-US" sz="3200" b="1" dirty="0" smtClean="0"/>
              <a:t>Output</a:t>
            </a:r>
            <a:r>
              <a:rPr lang="en-US" sz="2400" dirty="0" smtClean="0"/>
              <a:t>: A </a:t>
            </a:r>
            <a:r>
              <a:rPr lang="en-US" sz="2400" dirty="0"/>
              <a:t>line graph showing the relationship </a:t>
            </a:r>
            <a:r>
              <a:rPr lang="en-US" sz="2400" dirty="0" smtClean="0"/>
              <a:t>between   </a:t>
            </a:r>
            <a:r>
              <a:rPr lang="en-US" sz="2400" dirty="0" smtClean="0">
                <a:solidFill>
                  <a:srgbClr val="FF0000"/>
                </a:solidFill>
              </a:rPr>
              <a:t>x</a:t>
            </a:r>
            <a:r>
              <a:rPr lang="en-US" sz="2400" dirty="0" smtClean="0"/>
              <a:t>    and   </a:t>
            </a:r>
            <a:r>
              <a:rPr lang="en-US" sz="2400" dirty="0" smtClean="0">
                <a:solidFill>
                  <a:srgbClr val="FF0000"/>
                </a:solidFill>
              </a:rPr>
              <a:t>y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4449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567766"/>
          </a:xfrm>
        </p:spPr>
        <p:txBody>
          <a:bodyPr>
            <a:normAutofit fontScale="92500" lnSpcReduction="20000"/>
          </a:bodyPr>
          <a:lstStyle/>
          <a:p>
            <a:r>
              <a:rPr lang="en-US" sz="3900" dirty="0"/>
              <a:t>Used to show trends over time or continuous data</a:t>
            </a:r>
            <a:r>
              <a:rPr lang="en-US" sz="3900" dirty="0" smtClean="0"/>
              <a:t>.</a:t>
            </a:r>
          </a:p>
          <a:p>
            <a:pPr>
              <a:lnSpc>
                <a:spcPct val="110000"/>
              </a:lnSpc>
            </a:pPr>
            <a:r>
              <a:rPr lang="en-US" sz="3000" dirty="0"/>
              <a:t>plt.plot([1, 2, 3, 4], [10, 20, 15, 25], color='green', marker='o', </a:t>
            </a:r>
            <a:r>
              <a:rPr lang="en-US" sz="3000" dirty="0" err="1"/>
              <a:t>linestyle</a:t>
            </a:r>
            <a:r>
              <a:rPr lang="en-US" sz="3000" dirty="0"/>
              <a:t>='dashed')</a:t>
            </a:r>
          </a:p>
          <a:p>
            <a:pPr>
              <a:lnSpc>
                <a:spcPct val="110000"/>
              </a:lnSpc>
            </a:pPr>
            <a:r>
              <a:rPr lang="en-US" sz="3000" dirty="0"/>
              <a:t>plt.title("Line Plot Example")</a:t>
            </a:r>
          </a:p>
          <a:p>
            <a:pPr>
              <a:lnSpc>
                <a:spcPct val="110000"/>
              </a:lnSpc>
            </a:pPr>
            <a:r>
              <a:rPr lang="en-US" sz="3000" dirty="0"/>
              <a:t>plt.xlabel("Day")</a:t>
            </a:r>
          </a:p>
          <a:p>
            <a:pPr>
              <a:lnSpc>
                <a:spcPct val="110000"/>
              </a:lnSpc>
            </a:pPr>
            <a:r>
              <a:rPr lang="en-US" sz="3000" dirty="0"/>
              <a:t>plt.ylabel("Value")</a:t>
            </a:r>
          </a:p>
          <a:p>
            <a:pPr>
              <a:lnSpc>
                <a:spcPct val="110000"/>
              </a:lnSpc>
            </a:pPr>
            <a:r>
              <a:rPr lang="en-US" sz="3000" dirty="0"/>
              <a:t>plt.show</a:t>
            </a:r>
            <a:r>
              <a:rPr lang="en-US" sz="3000" dirty="0" smtClean="0"/>
              <a:t>()</a:t>
            </a:r>
          </a:p>
          <a:p>
            <a:endParaRPr lang="en-US" dirty="0"/>
          </a:p>
          <a:p>
            <a:r>
              <a:rPr lang="en-US" sz="3000" i="1" dirty="0">
                <a:solidFill>
                  <a:srgbClr val="FF0000"/>
                </a:solidFill>
              </a:rPr>
              <a:t>Markers</a:t>
            </a:r>
            <a:r>
              <a:rPr lang="en-US" sz="3000" dirty="0">
                <a:solidFill>
                  <a:srgbClr val="FF0000"/>
                </a:solidFill>
              </a:rPr>
              <a:t> show data points; </a:t>
            </a:r>
            <a:r>
              <a:rPr lang="en-US" sz="3000" i="1" dirty="0" err="1">
                <a:solidFill>
                  <a:srgbClr val="FF0000"/>
                </a:solidFill>
              </a:rPr>
              <a:t>linestyle</a:t>
            </a:r>
            <a:r>
              <a:rPr lang="en-US" sz="3000" dirty="0">
                <a:solidFill>
                  <a:srgbClr val="FF0000"/>
                </a:solidFill>
              </a:rPr>
              <a:t> changes how the line looks.</a:t>
            </a:r>
          </a:p>
        </p:txBody>
      </p:sp>
    </p:spTree>
    <p:extLst>
      <p:ext uri="{BB962C8B-B14F-4D97-AF65-F5344CB8AC3E}">
        <p14:creationId xmlns:p14="http://schemas.microsoft.com/office/powerpoint/2010/main" val="13099010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73903"/>
            <a:ext cx="10058400" cy="1450757"/>
          </a:xfrm>
        </p:spPr>
        <p:txBody>
          <a:bodyPr>
            <a:normAutofit/>
          </a:bodyPr>
          <a:lstStyle/>
          <a:p>
            <a:r>
              <a:rPr lang="en-US" sz="6000" b="1" dirty="0"/>
              <a:t>Bar </a:t>
            </a:r>
            <a:r>
              <a:rPr lang="en-US" sz="6000" b="1" dirty="0" smtClean="0"/>
              <a:t>Chart</a:t>
            </a:r>
            <a:endParaRPr lang="en-US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872566"/>
          </a:xfrm>
        </p:spPr>
        <p:txBody>
          <a:bodyPr>
            <a:normAutofit fontScale="92500" lnSpcReduction="10000"/>
          </a:bodyPr>
          <a:lstStyle/>
          <a:p>
            <a:r>
              <a:rPr lang="en-US" sz="4000" dirty="0"/>
              <a:t>Used to compare </a:t>
            </a:r>
            <a:r>
              <a:rPr lang="en-US" sz="4000" dirty="0" smtClean="0"/>
              <a:t>quantities </a:t>
            </a:r>
            <a:r>
              <a:rPr lang="en-US" sz="4000" dirty="0"/>
              <a:t>across categories</a:t>
            </a:r>
            <a:r>
              <a:rPr lang="en-US" sz="4000" dirty="0" smtClean="0"/>
              <a:t>.</a:t>
            </a:r>
            <a:endParaRPr lang="en-US" sz="2800" b="1" dirty="0"/>
          </a:p>
          <a:p>
            <a:r>
              <a:rPr lang="en-US" sz="2800" dirty="0"/>
              <a:t>subjects = ["Math", "Science", "ICT", "English"]</a:t>
            </a:r>
          </a:p>
          <a:p>
            <a:r>
              <a:rPr lang="en-US" sz="2800" dirty="0"/>
              <a:t>scores = [85, 90, 78, 88</a:t>
            </a:r>
            <a:r>
              <a:rPr lang="en-US" sz="2800" dirty="0" smtClean="0"/>
              <a:t>]</a:t>
            </a:r>
            <a:endParaRPr lang="en-US" sz="2800" dirty="0"/>
          </a:p>
          <a:p>
            <a:r>
              <a:rPr lang="en-US" sz="2800" dirty="0" err="1"/>
              <a:t>plt.bar</a:t>
            </a:r>
            <a:r>
              <a:rPr lang="en-US" sz="2800" dirty="0"/>
              <a:t>(subjects, scores, color='orange')</a:t>
            </a:r>
          </a:p>
          <a:p>
            <a:r>
              <a:rPr lang="en-US" sz="2800" dirty="0"/>
              <a:t>plt.title("Student Scores")</a:t>
            </a:r>
          </a:p>
          <a:p>
            <a:r>
              <a:rPr lang="en-US" sz="2800" dirty="0"/>
              <a:t>plt.xlabel("Subjects")</a:t>
            </a:r>
          </a:p>
          <a:p>
            <a:r>
              <a:rPr lang="en-US" sz="2800" dirty="0"/>
              <a:t>plt.ylabel("Scores")</a:t>
            </a:r>
          </a:p>
          <a:p>
            <a:r>
              <a:rPr lang="en-US" sz="2800" dirty="0"/>
              <a:t>plt.show</a:t>
            </a:r>
            <a:r>
              <a:rPr lang="en-US" sz="2800" dirty="0" smtClean="0"/>
              <a:t>()</a:t>
            </a:r>
          </a:p>
          <a:p>
            <a:r>
              <a:rPr lang="en-US" sz="2800" i="1" dirty="0">
                <a:solidFill>
                  <a:srgbClr val="0070C0"/>
                </a:solidFill>
              </a:rPr>
              <a:t>Bar charts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>
                <a:solidFill>
                  <a:srgbClr val="C00000"/>
                </a:solidFill>
              </a:rPr>
              <a:t>are great for showing differences between categories.</a:t>
            </a:r>
          </a:p>
        </p:txBody>
      </p:sp>
    </p:spTree>
    <p:extLst>
      <p:ext uri="{BB962C8B-B14F-4D97-AF65-F5344CB8AC3E}">
        <p14:creationId xmlns:p14="http://schemas.microsoft.com/office/powerpoint/2010/main" val="35171880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Pie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34634"/>
            <a:ext cx="10058400" cy="4440766"/>
          </a:xfrm>
        </p:spPr>
        <p:txBody>
          <a:bodyPr>
            <a:normAutofit/>
          </a:bodyPr>
          <a:lstStyle/>
          <a:p>
            <a:r>
              <a:rPr lang="en-US" sz="3200" dirty="0"/>
              <a:t>Used to show </a:t>
            </a:r>
            <a:r>
              <a:rPr lang="en-US" sz="3200" b="1" dirty="0"/>
              <a:t>proportions</a:t>
            </a:r>
            <a:r>
              <a:rPr lang="en-US" sz="3200" dirty="0"/>
              <a:t> or </a:t>
            </a:r>
            <a:r>
              <a:rPr lang="en-US" sz="3200" b="1" dirty="0"/>
              <a:t>percentages</a:t>
            </a:r>
            <a:r>
              <a:rPr lang="en-US" sz="3200" dirty="0"/>
              <a:t> of a whole</a:t>
            </a:r>
            <a:r>
              <a:rPr lang="en-US" sz="3200" dirty="0" smtClean="0"/>
              <a:t>.</a:t>
            </a:r>
            <a:endParaRPr lang="en-US" dirty="0" smtClean="0"/>
          </a:p>
          <a:p>
            <a:r>
              <a:rPr lang="en-US" sz="2400" dirty="0"/>
              <a:t>activities = ['Study', 'Sleep', 'Play', 'Eat']</a:t>
            </a:r>
          </a:p>
          <a:p>
            <a:r>
              <a:rPr lang="en-US" sz="2400" dirty="0"/>
              <a:t>hours = [8, 7, 5, 4</a:t>
            </a:r>
            <a:r>
              <a:rPr lang="en-US" sz="2400" dirty="0" smtClean="0"/>
              <a:t>]</a:t>
            </a:r>
            <a:endParaRPr lang="en-US" sz="2400" dirty="0"/>
          </a:p>
          <a:p>
            <a:r>
              <a:rPr lang="en-US" sz="2400" dirty="0" err="1"/>
              <a:t>plt.pie</a:t>
            </a:r>
            <a:r>
              <a:rPr lang="en-US" sz="2400" dirty="0"/>
              <a:t>(hours, labels=activities, </a:t>
            </a:r>
            <a:r>
              <a:rPr lang="en-US" sz="2400" dirty="0" err="1"/>
              <a:t>autopct</a:t>
            </a:r>
            <a:r>
              <a:rPr lang="en-US" sz="2400" dirty="0"/>
              <a:t>='%1.1f%%', </a:t>
            </a:r>
            <a:r>
              <a:rPr lang="en-US" sz="2400" dirty="0" err="1"/>
              <a:t>startangle</a:t>
            </a:r>
            <a:r>
              <a:rPr lang="en-US" sz="2400" dirty="0"/>
              <a:t>=90)</a:t>
            </a:r>
          </a:p>
          <a:p>
            <a:r>
              <a:rPr lang="en-US" sz="2400" dirty="0"/>
              <a:t>plt.title("Daily Time Distribution")</a:t>
            </a:r>
          </a:p>
          <a:p>
            <a:r>
              <a:rPr lang="en-US" sz="2400" dirty="0"/>
              <a:t>plt.show</a:t>
            </a:r>
            <a:r>
              <a:rPr lang="en-US" sz="2400" dirty="0" smtClean="0"/>
              <a:t>()</a:t>
            </a:r>
          </a:p>
          <a:p>
            <a:r>
              <a:rPr lang="en-US" sz="3500" dirty="0" err="1">
                <a:solidFill>
                  <a:srgbClr val="C00000"/>
                </a:solidFill>
              </a:rPr>
              <a:t>a</a:t>
            </a:r>
            <a:r>
              <a:rPr lang="en-US" sz="3500" dirty="0" err="1" smtClean="0">
                <a:solidFill>
                  <a:srgbClr val="C00000"/>
                </a:solidFill>
              </a:rPr>
              <a:t>utopct</a:t>
            </a:r>
            <a:r>
              <a:rPr lang="en-US" sz="3500" dirty="0">
                <a:solidFill>
                  <a:srgbClr val="C00000"/>
                </a:solidFill>
              </a:rPr>
              <a:t> </a:t>
            </a:r>
            <a:r>
              <a:rPr lang="en-US" sz="3500" dirty="0"/>
              <a:t> adds percentage labels; </a:t>
            </a:r>
            <a:r>
              <a:rPr lang="en-US" sz="3500" dirty="0" err="1" smtClean="0"/>
              <a:t>startangle</a:t>
            </a:r>
            <a:r>
              <a:rPr lang="en-US" sz="3500" dirty="0"/>
              <a:t>  rotates the chart.</a:t>
            </a:r>
          </a:p>
        </p:txBody>
      </p:sp>
    </p:spTree>
    <p:extLst>
      <p:ext uri="{BB962C8B-B14F-4D97-AF65-F5344CB8AC3E}">
        <p14:creationId xmlns:p14="http://schemas.microsoft.com/office/powerpoint/2010/main" val="7985027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b="1" dirty="0"/>
              <a:t>Scatter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92394"/>
            <a:ext cx="10058400" cy="501226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Used to show </a:t>
            </a:r>
            <a:r>
              <a:rPr lang="en-US" sz="2800" b="1" dirty="0">
                <a:solidFill>
                  <a:schemeClr val="tx1"/>
                </a:solidFill>
              </a:rPr>
              <a:t>relationship or correlation</a:t>
            </a:r>
            <a:r>
              <a:rPr lang="en-US" sz="2800" dirty="0">
                <a:solidFill>
                  <a:schemeClr val="tx1"/>
                </a:solidFill>
              </a:rPr>
              <a:t> between two variables</a:t>
            </a:r>
            <a:r>
              <a:rPr lang="en-US" sz="2800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rgbClr val="FF0000"/>
                </a:solidFill>
              </a:rPr>
              <a:t>import </a:t>
            </a:r>
            <a:r>
              <a:rPr lang="en-US" dirty="0"/>
              <a:t>numpy as </a:t>
            </a:r>
            <a:r>
              <a:rPr lang="en-US" dirty="0" smtClean="0">
                <a:solidFill>
                  <a:srgbClr val="FF0000"/>
                </a:solidFill>
              </a:rPr>
              <a:t>np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x = np.random.randint(1, 50, 10)</a:t>
            </a:r>
          </a:p>
          <a:p>
            <a:r>
              <a:rPr lang="en-US" dirty="0"/>
              <a:t>y = np.random.randint(1, 50, 10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/>
              <a:t>plt.scatter(x, y, color='purple')</a:t>
            </a:r>
          </a:p>
          <a:p>
            <a:r>
              <a:rPr lang="en-US" dirty="0"/>
              <a:t>plt.title("Scatter Plot Example")</a:t>
            </a:r>
          </a:p>
          <a:p>
            <a:r>
              <a:rPr lang="en-US" dirty="0"/>
              <a:t>plt.xlabel("Age")</a:t>
            </a:r>
          </a:p>
          <a:p>
            <a:r>
              <a:rPr lang="en-US" dirty="0"/>
              <a:t>plt.ylabel("Test Score")</a:t>
            </a:r>
          </a:p>
          <a:p>
            <a:r>
              <a:rPr lang="en-US" dirty="0"/>
              <a:t>plt.show</a:t>
            </a:r>
            <a:r>
              <a:rPr lang="en-US" dirty="0" smtClean="0"/>
              <a:t>()</a:t>
            </a:r>
          </a:p>
          <a:p>
            <a:r>
              <a:rPr lang="en-US" sz="2400" b="1" i="1" dirty="0">
                <a:solidFill>
                  <a:schemeClr val="tx1"/>
                </a:solidFill>
              </a:rPr>
              <a:t>Scatter plots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rgbClr val="C00000"/>
                </a:solidFill>
              </a:rPr>
              <a:t>are helpful for spotting patterns, trends, or clusters in data.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6783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Histogram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542366"/>
          </a:xfrm>
        </p:spPr>
        <p:txBody>
          <a:bodyPr>
            <a:normAutofit/>
          </a:bodyPr>
          <a:lstStyle/>
          <a:p>
            <a:r>
              <a:rPr lang="en-US" sz="3200" dirty="0"/>
              <a:t>Used to show </a:t>
            </a:r>
            <a:r>
              <a:rPr lang="en-US" sz="3200" b="1" dirty="0"/>
              <a:t>frequency distribution</a:t>
            </a:r>
            <a:r>
              <a:rPr lang="en-US" sz="3200" dirty="0"/>
              <a:t> of data.</a:t>
            </a:r>
          </a:p>
          <a:p>
            <a:r>
              <a:rPr lang="en-US" dirty="0" smtClean="0"/>
              <a:t>data </a:t>
            </a:r>
            <a:r>
              <a:rPr lang="en-US" dirty="0"/>
              <a:t>= [12, 15, 17, 19, 20, 21, 21, 22, 25, 25, 30, 30, 35]</a:t>
            </a:r>
          </a:p>
          <a:p>
            <a:r>
              <a:rPr lang="en-US" dirty="0" err="1"/>
              <a:t>plt.hist</a:t>
            </a:r>
            <a:r>
              <a:rPr lang="en-US" dirty="0"/>
              <a:t>(data, bins=5, color='</a:t>
            </a:r>
            <a:r>
              <a:rPr lang="en-US" dirty="0" err="1"/>
              <a:t>skyblue</a:t>
            </a:r>
            <a:r>
              <a:rPr lang="en-US" dirty="0"/>
              <a:t>', </a:t>
            </a:r>
            <a:r>
              <a:rPr lang="en-US" dirty="0" err="1"/>
              <a:t>edgecolor</a:t>
            </a:r>
            <a:r>
              <a:rPr lang="en-US" dirty="0"/>
              <a:t>='black')</a:t>
            </a:r>
          </a:p>
          <a:p>
            <a:r>
              <a:rPr lang="en-US" dirty="0"/>
              <a:t>plt.title("Age Distribution")</a:t>
            </a:r>
          </a:p>
          <a:p>
            <a:r>
              <a:rPr lang="en-US" dirty="0"/>
              <a:t>plt.xlabel("Age")</a:t>
            </a:r>
          </a:p>
          <a:p>
            <a:r>
              <a:rPr lang="en-US" dirty="0"/>
              <a:t>plt.ylabel("Frequency")</a:t>
            </a:r>
          </a:p>
          <a:p>
            <a:r>
              <a:rPr lang="en-US" dirty="0"/>
              <a:t>plt.show</a:t>
            </a:r>
            <a:r>
              <a:rPr lang="en-US" dirty="0" smtClean="0"/>
              <a:t>()</a:t>
            </a:r>
          </a:p>
          <a:p>
            <a:r>
              <a:rPr lang="en-US" sz="3600" dirty="0"/>
              <a:t>Each bar represents how often a range of values appears.</a:t>
            </a:r>
          </a:p>
        </p:txBody>
      </p:sp>
    </p:spTree>
    <p:extLst>
      <p:ext uri="{BB962C8B-B14F-4D97-AF65-F5344CB8AC3E}">
        <p14:creationId xmlns:p14="http://schemas.microsoft.com/office/powerpoint/2010/main" val="32913893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Plotting with 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567766"/>
          </a:xfrm>
        </p:spPr>
        <p:txBody>
          <a:bodyPr>
            <a:normAutofit/>
          </a:bodyPr>
          <a:lstStyle/>
          <a:p>
            <a:r>
              <a:rPr lang="en-US" sz="2400" i="1" dirty="0" smtClean="0">
                <a:solidFill>
                  <a:srgbClr val="00B050"/>
                </a:solidFill>
              </a:rPr>
              <a:t>impor</a:t>
            </a:r>
            <a:r>
              <a:rPr lang="en-US" sz="2400" i="1" dirty="0" smtClean="0"/>
              <a:t>t pandas as </a:t>
            </a:r>
            <a:r>
              <a:rPr lang="en-US" sz="2400" i="1" dirty="0" err="1" smtClean="0">
                <a:solidFill>
                  <a:srgbClr val="00B050"/>
                </a:solidFill>
              </a:rPr>
              <a:t>pd</a:t>
            </a:r>
            <a:endParaRPr lang="en-US" sz="2400" i="1" dirty="0" smtClean="0">
              <a:solidFill>
                <a:srgbClr val="00B050"/>
              </a:solidFill>
            </a:endParaRPr>
          </a:p>
          <a:p>
            <a:r>
              <a:rPr lang="en-US" sz="2400" i="1" dirty="0" smtClean="0"/>
              <a:t>data </a:t>
            </a:r>
            <a:r>
              <a:rPr lang="en-US" sz="2400" i="1" dirty="0"/>
              <a:t>= {"Subject": ["Math", "ICT", "Science"], "Score": [85, 92, 78]}</a:t>
            </a:r>
          </a:p>
          <a:p>
            <a:r>
              <a:rPr lang="en-US" sz="2400" i="1" dirty="0"/>
              <a:t>df = pd.DataFrame(data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df.plot(kind</a:t>
            </a:r>
            <a:r>
              <a:rPr lang="en-US" sz="2400" dirty="0"/>
              <a:t>='bar', x='Subject', y='Score', color='green', legend=False)</a:t>
            </a:r>
          </a:p>
          <a:p>
            <a:r>
              <a:rPr lang="en-US" sz="2400" dirty="0"/>
              <a:t>plt.title("Scores by Subject")</a:t>
            </a:r>
          </a:p>
          <a:p>
            <a:r>
              <a:rPr lang="en-US" sz="2400" dirty="0"/>
              <a:t>plt.ylabel("Score")</a:t>
            </a:r>
          </a:p>
          <a:p>
            <a:r>
              <a:rPr lang="en-US" sz="2400" dirty="0"/>
              <a:t>plt.show</a:t>
            </a:r>
            <a:r>
              <a:rPr lang="en-US" sz="2400" dirty="0" smtClean="0"/>
              <a:t>()</a:t>
            </a:r>
          </a:p>
          <a:p>
            <a:r>
              <a:rPr lang="en-US" sz="2800" dirty="0"/>
              <a:t>You can create a plot directly from a DataFrame — easy and powerful!</a:t>
            </a:r>
          </a:p>
        </p:txBody>
      </p:sp>
    </p:spTree>
    <p:extLst>
      <p:ext uri="{BB962C8B-B14F-4D97-AF65-F5344CB8AC3E}">
        <p14:creationId xmlns:p14="http://schemas.microsoft.com/office/powerpoint/2010/main" val="1615229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Adding Style &amp; Customization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 err="1"/>
              <a:t>plt.plot</a:t>
            </a:r>
            <a:r>
              <a:rPr lang="en-US" sz="2800" dirty="0"/>
              <a:t>(x, y, color='red', linewidth=2, </a:t>
            </a:r>
            <a:r>
              <a:rPr lang="en-US" sz="2800" dirty="0" err="1"/>
              <a:t>linestyle</a:t>
            </a:r>
            <a:r>
              <a:rPr lang="en-US" sz="2800" dirty="0"/>
              <a:t>='--', marker='o')</a:t>
            </a:r>
          </a:p>
          <a:p>
            <a:r>
              <a:rPr lang="en-US" sz="2800" dirty="0"/>
              <a:t>plt.title("Styled Line Chart")</a:t>
            </a:r>
          </a:p>
          <a:p>
            <a:r>
              <a:rPr lang="en-US" sz="2800" dirty="0"/>
              <a:t>plt.xlabel("Time")</a:t>
            </a:r>
          </a:p>
          <a:p>
            <a:r>
              <a:rPr lang="en-US" sz="2800" dirty="0"/>
              <a:t>plt.ylabel("Growth")</a:t>
            </a:r>
          </a:p>
          <a:p>
            <a:r>
              <a:rPr lang="en-US" sz="2800" dirty="0" err="1"/>
              <a:t>plt.grid</a:t>
            </a:r>
            <a:r>
              <a:rPr lang="en-US" sz="2800" dirty="0"/>
              <a:t>(True)</a:t>
            </a:r>
          </a:p>
          <a:p>
            <a:r>
              <a:rPr lang="en-US" sz="2800" dirty="0" err="1"/>
              <a:t>plt.show</a:t>
            </a:r>
            <a:r>
              <a:rPr lang="en-US" sz="2800" dirty="0" smtClean="0"/>
              <a:t>()</a:t>
            </a:r>
            <a:endParaRPr lang="en-US" sz="2800" dirty="0"/>
          </a:p>
          <a:p>
            <a:r>
              <a:rPr lang="en-US" sz="2800" dirty="0"/>
              <a:t>You can control </a:t>
            </a:r>
            <a:r>
              <a:rPr lang="en-US" sz="2800" b="1" dirty="0"/>
              <a:t>color</a:t>
            </a:r>
            <a:r>
              <a:rPr lang="en-US" sz="2800" dirty="0"/>
              <a:t>, </a:t>
            </a:r>
            <a:r>
              <a:rPr lang="en-US" sz="2800" b="1" dirty="0"/>
              <a:t>line thickness</a:t>
            </a:r>
            <a:r>
              <a:rPr lang="en-US" sz="2800" dirty="0"/>
              <a:t>, </a:t>
            </a:r>
            <a:r>
              <a:rPr lang="en-US" sz="2800" b="1" dirty="0"/>
              <a:t>style</a:t>
            </a:r>
            <a:r>
              <a:rPr lang="en-US" sz="2800" dirty="0"/>
              <a:t>, </a:t>
            </a:r>
            <a:r>
              <a:rPr lang="en-US" sz="2800" b="1" dirty="0"/>
              <a:t>markers</a:t>
            </a:r>
            <a:r>
              <a:rPr lang="en-US" sz="2800" dirty="0"/>
              <a:t>, and even add </a:t>
            </a:r>
            <a:r>
              <a:rPr lang="en-US" sz="2800" b="1" dirty="0"/>
              <a:t>grids</a:t>
            </a:r>
            <a:r>
              <a:rPr lang="en-US" sz="2800" dirty="0"/>
              <a:t> for clarity.</a:t>
            </a:r>
          </a:p>
        </p:txBody>
      </p:sp>
    </p:spTree>
    <p:extLst>
      <p:ext uri="{BB962C8B-B14F-4D97-AF65-F5344CB8AC3E}">
        <p14:creationId xmlns:p14="http://schemas.microsoft.com/office/powerpoint/2010/main" val="31355917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 b="1" dirty="0"/>
              <a:t>Multiple Plots on the Same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9156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x = [1, 2, 3, 4, 5]</a:t>
            </a:r>
          </a:p>
          <a:p>
            <a:r>
              <a:rPr lang="en-US" dirty="0"/>
              <a:t>y1 = [10, 20, 25, 30, 35]</a:t>
            </a:r>
          </a:p>
          <a:p>
            <a:r>
              <a:rPr lang="en-US" dirty="0"/>
              <a:t>y2 = [5, 15, 20, 25, 30</a:t>
            </a:r>
            <a:r>
              <a:rPr lang="en-US" dirty="0" smtClean="0"/>
              <a:t>]</a:t>
            </a:r>
            <a:endParaRPr lang="en-US" dirty="0"/>
          </a:p>
          <a:p>
            <a:r>
              <a:rPr lang="en-US" dirty="0" err="1"/>
              <a:t>plt.plot</a:t>
            </a:r>
            <a:r>
              <a:rPr lang="en-US" dirty="0"/>
              <a:t>(x, y1, label="Class A", color='blue')</a:t>
            </a:r>
          </a:p>
          <a:p>
            <a:r>
              <a:rPr lang="en-US" dirty="0" err="1"/>
              <a:t>plt.plot</a:t>
            </a:r>
            <a:r>
              <a:rPr lang="en-US" dirty="0"/>
              <a:t>(x, y2, label="Class B", color='green')</a:t>
            </a:r>
          </a:p>
          <a:p>
            <a:r>
              <a:rPr lang="en-US" dirty="0"/>
              <a:t>plt.title("Comparison of Two Classes")</a:t>
            </a:r>
          </a:p>
          <a:p>
            <a:r>
              <a:rPr lang="en-US" dirty="0"/>
              <a:t>plt.xlabel("Test Number")</a:t>
            </a:r>
          </a:p>
          <a:p>
            <a:r>
              <a:rPr lang="en-US" dirty="0"/>
              <a:t>plt.ylabel("Scores")</a:t>
            </a:r>
          </a:p>
          <a:p>
            <a:r>
              <a:rPr lang="en-US" dirty="0" err="1"/>
              <a:t>plt.legend</a:t>
            </a:r>
            <a:r>
              <a:rPr lang="en-US" dirty="0"/>
              <a:t>()</a:t>
            </a:r>
          </a:p>
          <a:p>
            <a:r>
              <a:rPr lang="en-US" dirty="0"/>
              <a:t>plt.show</a:t>
            </a:r>
            <a:r>
              <a:rPr lang="en-US" dirty="0" smtClean="0"/>
              <a:t>()</a:t>
            </a:r>
          </a:p>
          <a:p>
            <a:r>
              <a:rPr lang="en-US" dirty="0" err="1">
                <a:solidFill>
                  <a:srgbClr val="FF0000"/>
                </a:solidFill>
              </a:rPr>
              <a:t>plt.legend</a:t>
            </a:r>
            <a:r>
              <a:rPr lang="en-US" dirty="0"/>
              <a:t>() adds a key to identify lines.</a:t>
            </a:r>
          </a:p>
        </p:txBody>
      </p:sp>
    </p:spTree>
    <p:extLst>
      <p:ext uri="{BB962C8B-B14F-4D97-AF65-F5344CB8AC3E}">
        <p14:creationId xmlns:p14="http://schemas.microsoft.com/office/powerpoint/2010/main" val="5698356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Why Matplotlib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02336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Helps communicate your data insights </a:t>
            </a:r>
            <a:r>
              <a:rPr lang="en-US" sz="2800" dirty="0" smtClean="0"/>
              <a:t>visually.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 smtClean="0"/>
              <a:t>Works </a:t>
            </a:r>
            <a:r>
              <a:rPr lang="en-US" sz="2800" dirty="0"/>
              <a:t>perfectly with </a:t>
            </a:r>
            <a:r>
              <a:rPr lang="en-US" sz="2800" b="1" dirty="0"/>
              <a:t>NumPy</a:t>
            </a:r>
            <a:r>
              <a:rPr lang="en-US" sz="2800" dirty="0"/>
              <a:t> and </a:t>
            </a:r>
            <a:r>
              <a:rPr lang="en-US" sz="2800" b="1" dirty="0" smtClean="0"/>
              <a:t>Pandas</a:t>
            </a:r>
            <a:r>
              <a:rPr lang="en-US" sz="2800" dirty="0" smtClean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 smtClean="0"/>
              <a:t>Lets </a:t>
            </a:r>
            <a:r>
              <a:rPr lang="en-US" sz="2800" dirty="0"/>
              <a:t>you create professional charts for </a:t>
            </a:r>
            <a:r>
              <a:rPr lang="en-US" sz="2800" b="1" dirty="0"/>
              <a:t>research</a:t>
            </a:r>
            <a:r>
              <a:rPr lang="en-US" sz="2800" dirty="0"/>
              <a:t>, </a:t>
            </a:r>
            <a:r>
              <a:rPr lang="en-US" sz="2800" b="1" dirty="0"/>
              <a:t>reports</a:t>
            </a:r>
            <a:r>
              <a:rPr lang="en-US" sz="2800" dirty="0"/>
              <a:t>, or </a:t>
            </a:r>
            <a:r>
              <a:rPr lang="en-US" sz="2800" b="1" dirty="0" smtClean="0"/>
              <a:t>projects</a:t>
            </a:r>
            <a:r>
              <a:rPr lang="en-US" sz="2800" dirty="0" smtClean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 smtClean="0"/>
              <a:t>You </a:t>
            </a:r>
            <a:r>
              <a:rPr lang="en-US" sz="2800" dirty="0"/>
              <a:t>can even save charts as images </a:t>
            </a:r>
            <a:r>
              <a:rPr lang="en-US" sz="2800" dirty="0" smtClean="0"/>
              <a:t>with: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600" dirty="0"/>
              <a:t> </a:t>
            </a:r>
            <a:r>
              <a:rPr lang="en-US" sz="3600" dirty="0" smtClean="0"/>
              <a:t>   </a:t>
            </a:r>
            <a:r>
              <a:rPr lang="en-US" sz="3600" dirty="0" err="1" smtClean="0">
                <a:solidFill>
                  <a:srgbClr val="FF0000"/>
                </a:solidFill>
              </a:rPr>
              <a:t>plt.savefig</a:t>
            </a:r>
            <a:r>
              <a:rPr lang="en-US" sz="3600" dirty="0">
                <a:solidFill>
                  <a:srgbClr val="FF0000"/>
                </a:solidFill>
              </a:rPr>
              <a:t>("chart.png")</a:t>
            </a:r>
          </a:p>
        </p:txBody>
      </p:sp>
    </p:spTree>
    <p:extLst>
      <p:ext uri="{BB962C8B-B14F-4D97-AF65-F5344CB8AC3E}">
        <p14:creationId xmlns:p14="http://schemas.microsoft.com/office/powerpoint/2010/main" val="27851015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References </a:t>
            </a:r>
            <a:r>
              <a:rPr lang="en-US" b="1" dirty="0"/>
              <a:t>&amp; </a:t>
            </a:r>
            <a:r>
              <a:rPr lang="en-US" b="1" dirty="0" smtClean="0"/>
              <a:t>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103120"/>
            <a:ext cx="10058400" cy="402336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2800" dirty="0"/>
              <a:t>Python Software Foundation. </a:t>
            </a:r>
            <a:r>
              <a:rPr lang="en-US" sz="2800" i="1" dirty="0"/>
              <a:t>(2025). Python Documentation. Retrieved from </a:t>
            </a:r>
            <a:r>
              <a:rPr lang="en-US" sz="2800" i="1" dirty="0" smtClean="0">
                <a:hlinkClick r:id="rId2"/>
              </a:rPr>
              <a:t>https</a:t>
            </a:r>
            <a:r>
              <a:rPr lang="en-US" sz="2800" i="1" dirty="0">
                <a:hlinkClick r:id="rId2"/>
              </a:rPr>
              <a:t>://www.python.org</a:t>
            </a:r>
            <a:endParaRPr lang="en-US" sz="2800" i="1" dirty="0"/>
          </a:p>
          <a:p>
            <a:pPr>
              <a:lnSpc>
                <a:spcPct val="110000"/>
              </a:lnSpc>
            </a:pPr>
            <a:r>
              <a:rPr lang="en-US" sz="2800" dirty="0"/>
              <a:t>NumPy Developers. (2025). </a:t>
            </a:r>
            <a:r>
              <a:rPr lang="en-US" sz="2800" i="1" dirty="0"/>
              <a:t>NumPy Documentation. Retrieved from </a:t>
            </a:r>
            <a:r>
              <a:rPr lang="en-US" sz="2800" i="1" dirty="0">
                <a:hlinkClick r:id="rId3"/>
              </a:rPr>
              <a:t>https://numpy.org</a:t>
            </a:r>
            <a:endParaRPr lang="en-US" sz="2800" i="1" dirty="0"/>
          </a:p>
          <a:p>
            <a:pPr>
              <a:lnSpc>
                <a:spcPct val="110000"/>
              </a:lnSpc>
            </a:pPr>
            <a:r>
              <a:rPr lang="en-US" sz="2800" dirty="0"/>
              <a:t>Pandas Community. (2025). </a:t>
            </a:r>
            <a:r>
              <a:rPr lang="en-US" sz="2800" i="1" dirty="0"/>
              <a:t>Pandas Documentation. Retrieved from </a:t>
            </a:r>
            <a:r>
              <a:rPr lang="en-US" sz="2800" i="1" dirty="0">
                <a:hlinkClick r:id="rId4"/>
              </a:rPr>
              <a:t>https://pandas.pydata.org</a:t>
            </a:r>
            <a:endParaRPr lang="en-US" sz="2800" i="1" dirty="0"/>
          </a:p>
          <a:p>
            <a:pPr>
              <a:lnSpc>
                <a:spcPct val="110000"/>
              </a:lnSpc>
            </a:pPr>
            <a:r>
              <a:rPr lang="en-US" sz="2800" dirty="0"/>
              <a:t>Matplotlib Developers. (2025</a:t>
            </a:r>
            <a:r>
              <a:rPr lang="en-US" sz="2800" i="1" dirty="0"/>
              <a:t>). Matplotlib Documentation. Retrieved from </a:t>
            </a:r>
            <a:r>
              <a:rPr lang="en-US" sz="2800" i="1" dirty="0">
                <a:hlinkClick r:id="rId5"/>
              </a:rPr>
              <a:t>https://matplotlib.org</a:t>
            </a:r>
            <a:endParaRPr lang="en-US" sz="2800" i="1" dirty="0"/>
          </a:p>
          <a:p>
            <a:pPr>
              <a:lnSpc>
                <a:spcPct val="110000"/>
              </a:lnSpc>
            </a:pPr>
            <a:endParaRPr lang="en-US" sz="2800" dirty="0"/>
          </a:p>
          <a:p>
            <a:pPr>
              <a:lnSpc>
                <a:spcPct val="110000"/>
              </a:lnSpc>
            </a:pP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10503524" y="6396335"/>
            <a:ext cx="15233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FF00"/>
                </a:solidFill>
              </a:rPr>
              <a:t> By Iddrisu</a:t>
            </a:r>
            <a:endParaRPr lang="en-US" sz="2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32652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1282</TotalTime>
  <Words>2136</Words>
  <Application>Microsoft Office PowerPoint</Application>
  <PresentationFormat>Widescreen</PresentationFormat>
  <Paragraphs>368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Calibri</vt:lpstr>
      <vt:lpstr>Calibri Light</vt:lpstr>
      <vt:lpstr>Wingdings</vt:lpstr>
      <vt:lpstr>Retrospect</vt:lpstr>
      <vt:lpstr>Core Data Analysis Libraries — NumPy, Pandas, and Matplotlib.</vt:lpstr>
      <vt:lpstr>Numerical Computing with NumPy</vt:lpstr>
      <vt:lpstr>Why Learn NumPy?</vt:lpstr>
      <vt:lpstr>NumPy Overview</vt:lpstr>
      <vt:lpstr>Array Operations</vt:lpstr>
      <vt:lpstr>Indexing And Slicing</vt:lpstr>
      <vt:lpstr>Useful NumPy Functions</vt:lpstr>
      <vt:lpstr>Creating Arrays</vt:lpstr>
      <vt:lpstr>Useful NumPy Functions (with examples)</vt:lpstr>
      <vt:lpstr>Statistical Functions</vt:lpstr>
      <vt:lpstr>Array Manipulation Functions</vt:lpstr>
      <vt:lpstr>Random &amp; Utility Functions</vt:lpstr>
      <vt:lpstr>Using Multiple NumPy Functions Together</vt:lpstr>
      <vt:lpstr>Stacking and Splitting</vt:lpstr>
      <vt:lpstr>Example</vt:lpstr>
      <vt:lpstr>   Output</vt:lpstr>
      <vt:lpstr>Why NumPy is Powerful</vt:lpstr>
      <vt:lpstr>Data Manipulation with Pandas</vt:lpstr>
      <vt:lpstr>The Pandas Data Structures</vt:lpstr>
      <vt:lpstr>Series</vt:lpstr>
      <vt:lpstr>Pandas DataFrame</vt:lpstr>
      <vt:lpstr>PowerPoint Presentation</vt:lpstr>
      <vt:lpstr>Common Pandas Functions</vt:lpstr>
      <vt:lpstr>Accessing Data</vt:lpstr>
      <vt:lpstr>Adding or Modifying Columns</vt:lpstr>
      <vt:lpstr>Filtering Data</vt:lpstr>
      <vt:lpstr>Sorting Data</vt:lpstr>
      <vt:lpstr>Output</vt:lpstr>
      <vt:lpstr>Reading and Writing Files</vt:lpstr>
      <vt:lpstr>Example: Full Workflow</vt:lpstr>
      <vt:lpstr>Output:</vt:lpstr>
      <vt:lpstr>Why Pandas is Powerful</vt:lpstr>
      <vt:lpstr>Matplotlib Overview</vt:lpstr>
      <vt:lpstr>Basic Plot</vt:lpstr>
      <vt:lpstr>Line Plot</vt:lpstr>
      <vt:lpstr>Bar Chart</vt:lpstr>
      <vt:lpstr>Pie Chart</vt:lpstr>
      <vt:lpstr>Scatter Plot</vt:lpstr>
      <vt:lpstr>Histogram</vt:lpstr>
      <vt:lpstr>Plotting with Pandas</vt:lpstr>
      <vt:lpstr>Adding Style &amp; Customization</vt:lpstr>
      <vt:lpstr>Multiple Plots on the Same Graph</vt:lpstr>
      <vt:lpstr>Why Matplotlib is Important</vt:lpstr>
      <vt:lpstr>References &amp; Tools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data analysis libraries — NumPy, Pandas, and Matplotlib.</dc:title>
  <dc:creator>ADMIN</dc:creator>
  <cp:lastModifiedBy>ADMIN</cp:lastModifiedBy>
  <cp:revision>44</cp:revision>
  <dcterms:created xsi:type="dcterms:W3CDTF">2025-10-31T13:54:34Z</dcterms:created>
  <dcterms:modified xsi:type="dcterms:W3CDTF">2026-01-03T20:19:13Z</dcterms:modified>
</cp:coreProperties>
</file>